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2"/>
  </p:sldMasterIdLst>
  <p:notesMasterIdLst>
    <p:notesMasterId r:id="rId19"/>
  </p:notesMasterIdLst>
  <p:handoutMasterIdLst>
    <p:handoutMasterId r:id="rId20"/>
  </p:handoutMasterIdLst>
  <p:sldIdLst>
    <p:sldId id="522" r:id="rId3"/>
    <p:sldId id="527" r:id="rId4"/>
    <p:sldId id="547" r:id="rId5"/>
    <p:sldId id="847" r:id="rId6"/>
    <p:sldId id="846" r:id="rId7"/>
    <p:sldId id="848" r:id="rId8"/>
    <p:sldId id="851" r:id="rId9"/>
    <p:sldId id="852" r:id="rId10"/>
    <p:sldId id="849" r:id="rId11"/>
    <p:sldId id="853" r:id="rId12"/>
    <p:sldId id="855" r:id="rId13"/>
    <p:sldId id="854" r:id="rId14"/>
    <p:sldId id="856" r:id="rId15"/>
    <p:sldId id="733" r:id="rId16"/>
    <p:sldId id="718" r:id="rId17"/>
    <p:sldId id="478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FBAC4761-0095-4685-B9DA-229890EFEBB0}">
          <p14:sldIdLst>
            <p14:sldId id="522"/>
            <p14:sldId id="527"/>
            <p14:sldId id="547"/>
            <p14:sldId id="847"/>
            <p14:sldId id="846"/>
            <p14:sldId id="848"/>
            <p14:sldId id="851"/>
            <p14:sldId id="852"/>
            <p14:sldId id="849"/>
            <p14:sldId id="853"/>
            <p14:sldId id="855"/>
            <p14:sldId id="854"/>
            <p14:sldId id="856"/>
            <p14:sldId id="733"/>
            <p14:sldId id="718"/>
            <p14:sldId id="4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0000"/>
    <a:srgbClr val="FFFFFF"/>
    <a:srgbClr val="E4E4E4"/>
    <a:srgbClr val="4D9BD3"/>
    <a:srgbClr val="003E7A"/>
    <a:srgbClr val="990000"/>
    <a:srgbClr val="9F1010"/>
    <a:srgbClr val="A96D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3214" autoAdjust="0"/>
  </p:normalViewPr>
  <p:slideViewPr>
    <p:cSldViewPr snapToGrid="0">
      <p:cViewPr varScale="1">
        <p:scale>
          <a:sx n="103" d="100"/>
          <a:sy n="103" d="100"/>
        </p:scale>
        <p:origin x="1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2025/10/31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F644E5-6B83-484E-B06E-5269D044D462}" type="datetimeFigureOut">
              <a:rPr lang="zh-CN" altLang="en-US" smtClean="0"/>
              <a:t>2025/10/31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D45C01-8370-4DA3-8DA5-A0AE7AECFD7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编号占位符 6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9pPr>
          </a:lstStyle>
          <a:p>
            <a:fld id="{DF76A47F-F381-4BF3-83E2-34D85D44A2FE}" type="slidenum">
              <a:rPr lang="zh-CN" altLang="en-US"/>
              <a:t>1</a:t>
            </a:fld>
            <a:endParaRPr lang="zh-CN" altLang="en-US"/>
          </a:p>
        </p:txBody>
      </p:sp>
      <p:sp>
        <p:nvSpPr>
          <p:cNvPr id="717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noFill/>
        </p:spPr>
      </p:sp>
      <p:sp>
        <p:nvSpPr>
          <p:cNvPr id="7172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7173" name="幻灯片编号占位符 3"/>
          <p:cNvSpPr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14E5873-95F7-4515-96EC-B7B5D7E1AB66}" type="slidenum">
              <a:rPr lang="zh-CN" altLang="en-US">
                <a:sym typeface="宋体" panose="02010600030101010101" pitchFamily="2" charset="-122"/>
              </a:rPr>
              <a:t>1</a:t>
            </a:fld>
            <a:endParaRPr lang="zh-CN" altLang="en-US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D45C01-8370-4DA3-8DA5-A0AE7AECFD7E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编号占位符 6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9pPr>
          </a:lstStyle>
          <a:p>
            <a:fld id="{DF76A47F-F381-4BF3-83E2-34D85D44A2FE}" type="slidenum">
              <a:rPr lang="zh-CN" altLang="en-US"/>
              <a:t>16</a:t>
            </a:fld>
            <a:endParaRPr lang="zh-CN" altLang="en-US"/>
          </a:p>
        </p:txBody>
      </p:sp>
      <p:sp>
        <p:nvSpPr>
          <p:cNvPr id="717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noFill/>
        </p:spPr>
      </p:sp>
      <p:sp>
        <p:nvSpPr>
          <p:cNvPr id="7172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7173" name="幻灯片编号占位符 3"/>
          <p:cNvSpPr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14E5873-95F7-4515-96EC-B7B5D7E1AB66}" type="slidenum">
              <a:rPr lang="zh-CN" altLang="en-US">
                <a:sym typeface="宋体" panose="02010600030101010101" pitchFamily="2" charset="-122"/>
              </a:rPr>
              <a:t>16</a:t>
            </a:fld>
            <a:endParaRPr lang="zh-CN" altLang="en-US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92125" y="1125538"/>
            <a:ext cx="5557838" cy="5527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02363" y="1125538"/>
            <a:ext cx="5557837" cy="5527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43975" y="149225"/>
            <a:ext cx="2816225" cy="65039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92125" y="149225"/>
            <a:ext cx="8299450" cy="650398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92125" y="1125538"/>
            <a:ext cx="5557838" cy="5527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02363" y="1125538"/>
            <a:ext cx="5557837" cy="5527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43975" y="149225"/>
            <a:ext cx="2816225" cy="65039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92125" y="149225"/>
            <a:ext cx="8299450" cy="650398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68375" y="149225"/>
            <a:ext cx="839152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27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2125" y="1125538"/>
            <a:ext cx="11268075" cy="552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en-US" altLang="zh-CN"/>
          </a:p>
        </p:txBody>
      </p:sp>
      <p:grpSp>
        <p:nvGrpSpPr>
          <p:cNvPr id="1028" name="Group -1006"/>
          <p:cNvGrpSpPr/>
          <p:nvPr/>
        </p:nvGrpSpPr>
        <p:grpSpPr bwMode="auto">
          <a:xfrm>
            <a:off x="0" y="141288"/>
            <a:ext cx="885825" cy="679450"/>
            <a:chOff x="0" y="142043"/>
            <a:chExt cx="354475" cy="347582"/>
          </a:xfrm>
        </p:grpSpPr>
        <p:sp>
          <p:nvSpPr>
            <p:cNvPr id="1048578" name="矩形 1"/>
            <p:cNvSpPr>
              <a:spLocks noChangeArrowheads="1"/>
            </p:cNvSpPr>
            <p:nvPr/>
          </p:nvSpPr>
          <p:spPr bwMode="auto">
            <a:xfrm>
              <a:off x="0" y="142043"/>
              <a:ext cx="196931" cy="347582"/>
            </a:xfrm>
            <a:prstGeom prst="rect">
              <a:avLst/>
            </a:prstGeom>
            <a:solidFill>
              <a:srgbClr val="003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  <p:sp>
          <p:nvSpPr>
            <p:cNvPr id="1048579" name="矩形 1"/>
            <p:cNvSpPr>
              <a:spLocks noChangeArrowheads="1"/>
            </p:cNvSpPr>
            <p:nvPr/>
          </p:nvSpPr>
          <p:spPr bwMode="auto">
            <a:xfrm>
              <a:off x="229964" y="142043"/>
              <a:ext cx="62255" cy="347582"/>
            </a:xfrm>
            <a:prstGeom prst="rect">
              <a:avLst/>
            </a:prstGeom>
            <a:solidFill>
              <a:srgbClr val="3C3D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  <p:sp>
          <p:nvSpPr>
            <p:cNvPr id="1048580" name="矩形 1"/>
            <p:cNvSpPr>
              <a:spLocks noChangeArrowheads="1"/>
            </p:cNvSpPr>
            <p:nvPr/>
          </p:nvSpPr>
          <p:spPr bwMode="auto">
            <a:xfrm>
              <a:off x="325253" y="142043"/>
              <a:ext cx="29222" cy="347582"/>
            </a:xfrm>
            <a:prstGeom prst="rect">
              <a:avLst/>
            </a:prstGeom>
            <a:solidFill>
              <a:srgbClr val="3C3D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</p:grpSp>
      <p:pic>
        <p:nvPicPr>
          <p:cNvPr id="1029" name="图片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6150" y="152400"/>
            <a:ext cx="750888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 kern="1200">
          <a:solidFill>
            <a:srgbClr val="16388A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914400" indent="-28575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2pPr>
      <a:lvl3pPr marL="1322705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730375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–"/>
        <a:defRPr sz="20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138680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»"/>
        <a:defRPr sz="20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68375" y="149225"/>
            <a:ext cx="839152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27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2125" y="1125538"/>
            <a:ext cx="11268075" cy="552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en-US" altLang="zh-CN"/>
          </a:p>
        </p:txBody>
      </p:sp>
      <p:grpSp>
        <p:nvGrpSpPr>
          <p:cNvPr id="1028" name="Group -1006"/>
          <p:cNvGrpSpPr/>
          <p:nvPr/>
        </p:nvGrpSpPr>
        <p:grpSpPr bwMode="auto">
          <a:xfrm>
            <a:off x="0" y="141288"/>
            <a:ext cx="885825" cy="679450"/>
            <a:chOff x="0" y="142043"/>
            <a:chExt cx="354475" cy="347582"/>
          </a:xfrm>
        </p:grpSpPr>
        <p:sp>
          <p:nvSpPr>
            <p:cNvPr id="1048578" name="矩形 1"/>
            <p:cNvSpPr>
              <a:spLocks noChangeArrowheads="1"/>
            </p:cNvSpPr>
            <p:nvPr/>
          </p:nvSpPr>
          <p:spPr bwMode="auto">
            <a:xfrm>
              <a:off x="0" y="142043"/>
              <a:ext cx="196931" cy="347582"/>
            </a:xfrm>
            <a:prstGeom prst="rect">
              <a:avLst/>
            </a:prstGeom>
            <a:solidFill>
              <a:srgbClr val="003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  <p:sp>
          <p:nvSpPr>
            <p:cNvPr id="1048579" name="矩形 1"/>
            <p:cNvSpPr>
              <a:spLocks noChangeArrowheads="1"/>
            </p:cNvSpPr>
            <p:nvPr/>
          </p:nvSpPr>
          <p:spPr bwMode="auto">
            <a:xfrm>
              <a:off x="229964" y="142043"/>
              <a:ext cx="62255" cy="347582"/>
            </a:xfrm>
            <a:prstGeom prst="rect">
              <a:avLst/>
            </a:prstGeom>
            <a:solidFill>
              <a:srgbClr val="3C3D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  <p:sp>
          <p:nvSpPr>
            <p:cNvPr id="1048580" name="矩形 1"/>
            <p:cNvSpPr>
              <a:spLocks noChangeArrowheads="1"/>
            </p:cNvSpPr>
            <p:nvPr/>
          </p:nvSpPr>
          <p:spPr bwMode="auto">
            <a:xfrm>
              <a:off x="325253" y="142043"/>
              <a:ext cx="29222" cy="347582"/>
            </a:xfrm>
            <a:prstGeom prst="rect">
              <a:avLst/>
            </a:prstGeom>
            <a:solidFill>
              <a:srgbClr val="3C3D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</p:grpSp>
      <p:pic>
        <p:nvPicPr>
          <p:cNvPr id="1029" name="图片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6150" y="152400"/>
            <a:ext cx="750888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 kern="1200">
          <a:solidFill>
            <a:srgbClr val="16388A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914400" indent="-28575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2pPr>
      <a:lvl3pPr marL="1322705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730375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–"/>
        <a:defRPr sz="20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138680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»"/>
        <a:defRPr sz="20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5" Type="http://schemas.openxmlformats.org/officeDocument/2006/relationships/image" Target="../media/image8.png"/><Relationship Id="rId4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4" name="矩形 3"/>
          <p:cNvSpPr>
            <a:spLocks noChangeArrowheads="1"/>
          </p:cNvSpPr>
          <p:nvPr/>
        </p:nvSpPr>
        <p:spPr bwMode="auto">
          <a:xfrm>
            <a:off x="-1" y="1869090"/>
            <a:ext cx="12192000" cy="2046288"/>
          </a:xfrm>
          <a:prstGeom prst="rect">
            <a:avLst/>
          </a:prstGeom>
          <a:solidFill>
            <a:srgbClr val="004070">
              <a:alpha val="89803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1pPr>
            <a:lvl2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2pPr>
            <a:lvl3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3pPr>
            <a:lvl4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4pPr>
            <a:lvl5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实验</a:t>
            </a:r>
            <a:r>
              <a:rPr lang="en-US" altLang="zh-CN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2-2 </a:t>
            </a:r>
            <a:r>
              <a:rPr lang="zh-CN" alt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写时复制</a:t>
            </a:r>
            <a:r>
              <a:rPr lang="en-US" altLang="zh-CN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cow</a:t>
            </a:r>
          </a:p>
        </p:txBody>
      </p:sp>
      <p:sp>
        <p:nvSpPr>
          <p:cNvPr id="6147" name="标题 2"/>
          <p:cNvSpPr>
            <a:spLocks noGrp="1" noChangeArrowheads="1"/>
          </p:cNvSpPr>
          <p:nvPr>
            <p:ph type="ctrTitle" idx="4294967295"/>
          </p:nvPr>
        </p:nvSpPr>
        <p:spPr>
          <a:xfrm>
            <a:off x="807085" y="0"/>
            <a:ext cx="3253105" cy="933450"/>
          </a:xfrm>
        </p:spPr>
        <p:txBody>
          <a:bodyPr anchor="ctr" anchorCtr="1"/>
          <a:lstStyle/>
          <a:p>
            <a:pPr algn="l" eaLnBrk="1" latinLnBrk="0" hangingPunct="1"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操作系统实验</a:t>
            </a:r>
          </a:p>
        </p:txBody>
      </p:sp>
      <p:graphicFrame>
        <p:nvGraphicFramePr>
          <p:cNvPr id="4" name="Group 8"/>
          <p:cNvGraphicFramePr>
            <a:graphicFrameLocks noGrp="1"/>
          </p:cNvGraphicFramePr>
          <p:nvPr/>
        </p:nvGraphicFramePr>
        <p:xfrm>
          <a:off x="2586037" y="4422504"/>
          <a:ext cx="7019925" cy="1704975"/>
        </p:xfrm>
        <a:graphic>
          <a:graphicData uri="http://schemas.openxmlformats.org/drawingml/2006/table">
            <a:tbl>
              <a:tblPr/>
              <a:tblGrid>
                <a:gridCol w="7019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04975"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fontAlgn="base"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fontAlgn="base"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fontAlgn="base"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fontAlgn="base"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2025.10.27</a:t>
                      </a:r>
                    </a:p>
                  </a:txBody>
                  <a:tcPr marL="91459" marR="91459" marT="45664" marB="4566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61962" y="838200"/>
            <a:ext cx="11268075" cy="6019800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一、实验背景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&amp;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原理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lvl="1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COW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是什么？为什么要使用它？</a:t>
            </a:r>
          </a:p>
          <a:p>
            <a:pPr marL="1371600" lvl="1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实现它的逻辑是什么样的？</a:t>
            </a:r>
          </a:p>
          <a:p>
            <a:pPr marL="457200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二、实验内容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lvl="1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任务一：</a:t>
            </a:r>
            <a:r>
              <a:rPr 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COW</a:t>
            </a:r>
            <a:endParaRPr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None/>
            </a:pP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solidFill>
                  <a:srgbClr val="002060"/>
                </a:solidFill>
              </a:rPr>
              <a:t>实验目录</a:t>
            </a:r>
            <a:r>
              <a:rPr lang="en-US" altLang="zh-CN" dirty="0">
                <a:solidFill>
                  <a:srgbClr val="002060"/>
                </a:solidFill>
              </a:rPr>
              <a:t>——COW</a:t>
            </a:r>
          </a:p>
        </p:txBody>
      </p:sp>
      <p:sp>
        <p:nvSpPr>
          <p:cNvPr id="2" name="灯片编号占位符 4"/>
          <p:cNvSpPr>
            <a:spLocks noGrp="1"/>
          </p:cNvSpPr>
          <p:nvPr/>
        </p:nvSpPr>
        <p:spPr>
          <a:xfrm>
            <a:off x="9622970" y="60912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F8B8DA-3D2E-8C43-91D1-4E8AEA96D1B2}" type="slidenum">
              <a:rPr kumimoji="1" lang="zh-CN" altLang="en-US" smtClean="0"/>
              <a:t>2</a:t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5253355" cy="69151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en-US" altLang="zh-CN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COW</a:t>
            </a: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是什么？为什么存在？</a:t>
            </a:r>
            <a:endParaRPr kumimoji="1" lang="en-US" altLang="zh-CN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COW是什么？为什么要使用它？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0093960" cy="38023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ym typeface="+mn-ea"/>
              </a:rPr>
              <a:t>Copy-On-Write（写时复制，简称COW）是一种在计算机领域中广泛应用的优化策略，主要用于提高内存的使用效率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那么是在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什么样的场景下</a:t>
            </a:r>
            <a:r>
              <a:rPr lang="zh-CN" altLang="en-US" sz="2400" dirty="0">
                <a:sym typeface="+mn-ea"/>
              </a:rPr>
              <a:t>、因为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什么样的缺陷</a:t>
            </a:r>
            <a:r>
              <a:rPr lang="zh-CN" altLang="en-US" sz="2400" dirty="0">
                <a:sym typeface="+mn-ea"/>
              </a:rPr>
              <a:t>才需要使用</a:t>
            </a:r>
            <a:r>
              <a:rPr lang="en-US" altLang="zh-CN" sz="2400" dirty="0">
                <a:sym typeface="+mn-ea"/>
              </a:rPr>
              <a:t>COW</a:t>
            </a:r>
            <a:r>
              <a:rPr lang="zh-CN" altLang="en-US" sz="2400" dirty="0">
                <a:sym typeface="+mn-ea"/>
              </a:rPr>
              <a:t>来优化呢？</a:t>
            </a:r>
            <a:r>
              <a:rPr lang="en-US" altLang="zh-CN" sz="2400" dirty="0">
                <a:sym typeface="+mn-ea"/>
              </a:rPr>
              <a:t>——fork</a:t>
            </a:r>
            <a:r>
              <a:rPr lang="zh-CN" altLang="en-US" sz="2400" dirty="0">
                <a:sym typeface="+mn-ea"/>
              </a:rPr>
              <a:t>（）的页面复制对内存和程序运行效率造成了严重的影响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5201285" cy="70548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en-US" altLang="zh-CN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fork()</a:t>
            </a: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有什么缺陷？</a:t>
            </a:r>
            <a:endParaRPr kumimoji="1" lang="en-US" altLang="zh-CN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COW是什么？为什么要使用它？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6383020" cy="18516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进行</a:t>
            </a:r>
            <a:r>
              <a:rPr lang="en-US" altLang="zh-CN" sz="2400" dirty="0">
                <a:sym typeface="+mn-ea"/>
              </a:rPr>
              <a:t>fork()</a:t>
            </a:r>
            <a:r>
              <a:rPr lang="zh-CN" altLang="en-US" sz="2400" dirty="0">
                <a:sym typeface="+mn-ea"/>
              </a:rPr>
              <a:t>操作时，父进程会将自己的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所有页面都复制给子进程</a:t>
            </a:r>
            <a:r>
              <a:rPr lang="zh-CN" altLang="en-US" sz="2400" dirty="0">
                <a:sym typeface="+mn-ea"/>
              </a:rPr>
              <a:t>，这个过程会占用很多的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内存空间</a:t>
            </a:r>
            <a:r>
              <a:rPr lang="zh-CN" altLang="en-US" sz="2400" dirty="0">
                <a:sym typeface="+mn-ea"/>
              </a:rPr>
              <a:t>，也会浪费很多的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运行时间</a:t>
            </a:r>
            <a:r>
              <a:rPr lang="zh-CN" altLang="en-US" sz="2400" dirty="0">
                <a:sym typeface="+mn-ea"/>
              </a:rPr>
              <a:t>！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400050" y="3796665"/>
            <a:ext cx="4615815" cy="2382520"/>
            <a:chOff x="9025" y="5627"/>
            <a:chExt cx="7269" cy="3752"/>
          </a:xfrm>
        </p:grpSpPr>
        <p:grpSp>
          <p:nvGrpSpPr>
            <p:cNvPr id="25" name="组合 24"/>
            <p:cNvGrpSpPr/>
            <p:nvPr/>
          </p:nvGrpSpPr>
          <p:grpSpPr>
            <a:xfrm>
              <a:off x="9025" y="6329"/>
              <a:ext cx="7269" cy="3050"/>
              <a:chOff x="5698" y="2974"/>
              <a:chExt cx="7269" cy="3050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5698" y="2974"/>
                <a:ext cx="1920" cy="61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5698" y="358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5698" y="4194"/>
                <a:ext cx="1920" cy="61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5698" y="480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5698" y="541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4</a:t>
                </a:r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11047" y="297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11047" y="3584"/>
                <a:ext cx="1920" cy="61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1047" y="4194"/>
                <a:ext cx="1920" cy="61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11047" y="480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11047" y="541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4</a:t>
                </a:r>
              </a:p>
            </p:txBody>
          </p:sp>
          <p:cxnSp>
            <p:nvCxnSpPr>
              <p:cNvPr id="36" name="直接箭头连接符 35"/>
              <p:cNvCxnSpPr>
                <a:stCxn id="28" idx="3"/>
                <a:endCxn id="32" idx="1"/>
              </p:cNvCxnSpPr>
              <p:nvPr/>
            </p:nvCxnSpPr>
            <p:spPr>
              <a:xfrm flipV="1">
                <a:off x="7618" y="3889"/>
                <a:ext cx="3429" cy="61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37" name="直接箭头连接符 36"/>
              <p:cNvCxnSpPr>
                <a:stCxn id="26" idx="3"/>
                <a:endCxn id="33" idx="1"/>
              </p:cNvCxnSpPr>
              <p:nvPr/>
            </p:nvCxnSpPr>
            <p:spPr>
              <a:xfrm>
                <a:off x="7618" y="3279"/>
                <a:ext cx="3429" cy="122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</p:grpSp>
        <p:sp>
          <p:nvSpPr>
            <p:cNvPr id="38" name="文本框 37"/>
            <p:cNvSpPr txBox="1"/>
            <p:nvPr/>
          </p:nvSpPr>
          <p:spPr>
            <a:xfrm>
              <a:off x="9098" y="5627"/>
              <a:ext cx="173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/>
                <a:t>父进程</a:t>
              </a: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4466" y="5627"/>
              <a:ext cx="173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内存空间</a:t>
              </a:r>
            </a:p>
          </p:txBody>
        </p:sp>
      </p:grpSp>
      <p:sp>
        <p:nvSpPr>
          <p:cNvPr id="40" name="右箭头 39"/>
          <p:cNvSpPr/>
          <p:nvPr/>
        </p:nvSpPr>
        <p:spPr>
          <a:xfrm>
            <a:off x="5160010" y="3853180"/>
            <a:ext cx="1395095" cy="44132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891405" y="3250565"/>
            <a:ext cx="1663065" cy="6019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4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fork</a:t>
            </a:r>
          </a:p>
        </p:txBody>
      </p:sp>
      <p:grpSp>
        <p:nvGrpSpPr>
          <p:cNvPr id="63" name="组合 62"/>
          <p:cNvGrpSpPr/>
          <p:nvPr/>
        </p:nvGrpSpPr>
        <p:grpSpPr>
          <a:xfrm>
            <a:off x="6780530" y="1297940"/>
            <a:ext cx="5411470" cy="5015865"/>
            <a:chOff x="10678" y="2044"/>
            <a:chExt cx="8522" cy="7899"/>
          </a:xfrm>
        </p:grpSpPr>
        <p:grpSp>
          <p:nvGrpSpPr>
            <p:cNvPr id="22" name="组合 21"/>
            <p:cNvGrpSpPr/>
            <p:nvPr/>
          </p:nvGrpSpPr>
          <p:grpSpPr>
            <a:xfrm>
              <a:off x="10678" y="2044"/>
              <a:ext cx="7269" cy="3752"/>
              <a:chOff x="9025" y="5627"/>
              <a:chExt cx="7269" cy="3752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9025" y="6329"/>
                <a:ext cx="7269" cy="3050"/>
                <a:chOff x="5698" y="2974"/>
                <a:chExt cx="7269" cy="3050"/>
              </a:xfrm>
            </p:grpSpPr>
            <p:sp>
              <p:nvSpPr>
                <p:cNvPr id="2" name="矩形 1"/>
                <p:cNvSpPr/>
                <p:nvPr/>
              </p:nvSpPr>
              <p:spPr>
                <a:xfrm>
                  <a:off x="5698" y="2974"/>
                  <a:ext cx="1920" cy="61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5698" y="358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5698" y="4194"/>
                  <a:ext cx="1920" cy="61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7" name="矩形 6"/>
                <p:cNvSpPr/>
                <p:nvPr/>
              </p:nvSpPr>
              <p:spPr>
                <a:xfrm>
                  <a:off x="5698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5698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11047" y="297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11047" y="358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1047" y="4194"/>
                  <a:ext cx="1920" cy="610"/>
                </a:xfrm>
                <a:prstGeom prst="rect">
                  <a:avLst/>
                </a:prstGeom>
                <a:solidFill>
                  <a:schemeClr val="accent1">
                    <a:lumMod val="9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13" name="矩形 12"/>
                <p:cNvSpPr/>
                <p:nvPr/>
              </p:nvSpPr>
              <p:spPr>
                <a:xfrm>
                  <a:off x="11047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</a:p>
              </p:txBody>
            </p:sp>
            <p:sp>
              <p:nvSpPr>
                <p:cNvPr id="14" name="矩形 13"/>
                <p:cNvSpPr/>
                <p:nvPr/>
              </p:nvSpPr>
              <p:spPr>
                <a:xfrm>
                  <a:off x="11047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</a:p>
              </p:txBody>
            </p:sp>
            <p:cxnSp>
              <p:nvCxnSpPr>
                <p:cNvPr id="15" name="直接箭头连接符 14"/>
                <p:cNvCxnSpPr>
                  <a:stCxn id="5" idx="3"/>
                  <a:endCxn id="11" idx="1"/>
                </p:cNvCxnSpPr>
                <p:nvPr/>
              </p:nvCxnSpPr>
              <p:spPr>
                <a:xfrm flipV="1">
                  <a:off x="7618" y="3889"/>
                  <a:ext cx="3429" cy="61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  <p:cxnSp>
              <p:nvCxnSpPr>
                <p:cNvPr id="16" name="直接箭头连接符 15"/>
                <p:cNvCxnSpPr>
                  <a:stCxn id="2" idx="3"/>
                  <a:endCxn id="12" idx="1"/>
                </p:cNvCxnSpPr>
                <p:nvPr/>
              </p:nvCxnSpPr>
              <p:spPr>
                <a:xfrm>
                  <a:off x="7618" y="3279"/>
                  <a:ext cx="3429" cy="122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</p:grpSp>
          <p:sp>
            <p:nvSpPr>
              <p:cNvPr id="20" name="文本框 19"/>
              <p:cNvSpPr txBox="1"/>
              <p:nvPr/>
            </p:nvSpPr>
            <p:spPr>
              <a:xfrm>
                <a:off x="9098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/>
                  <a:t>父进程</a:t>
                </a: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14466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/>
                  <a:t>内存空间</a:t>
                </a: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0678" y="6191"/>
              <a:ext cx="7269" cy="3752"/>
              <a:chOff x="9025" y="5627"/>
              <a:chExt cx="7269" cy="3752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9025" y="6329"/>
                <a:ext cx="7269" cy="3050"/>
                <a:chOff x="5698" y="2974"/>
                <a:chExt cx="7269" cy="3050"/>
              </a:xfrm>
            </p:grpSpPr>
            <p:sp>
              <p:nvSpPr>
                <p:cNvPr id="44" name="矩形 43"/>
                <p:cNvSpPr/>
                <p:nvPr/>
              </p:nvSpPr>
              <p:spPr>
                <a:xfrm>
                  <a:off x="5698" y="2974"/>
                  <a:ext cx="1920" cy="61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45" name="矩形 44"/>
                <p:cNvSpPr/>
                <p:nvPr/>
              </p:nvSpPr>
              <p:spPr>
                <a:xfrm>
                  <a:off x="5698" y="358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46" name="矩形 45"/>
                <p:cNvSpPr/>
                <p:nvPr/>
              </p:nvSpPr>
              <p:spPr>
                <a:xfrm>
                  <a:off x="5698" y="4194"/>
                  <a:ext cx="1920" cy="61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虚拟页2</a:t>
                  </a:r>
                </a:p>
              </p:txBody>
            </p:sp>
            <p:sp>
              <p:nvSpPr>
                <p:cNvPr id="47" name="矩形 46"/>
                <p:cNvSpPr/>
                <p:nvPr/>
              </p:nvSpPr>
              <p:spPr>
                <a:xfrm>
                  <a:off x="5698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</a:p>
              </p:txBody>
            </p:sp>
            <p:sp>
              <p:nvSpPr>
                <p:cNvPr id="48" name="矩形 47"/>
                <p:cNvSpPr/>
                <p:nvPr/>
              </p:nvSpPr>
              <p:spPr>
                <a:xfrm>
                  <a:off x="5698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</a:p>
              </p:txBody>
            </p:sp>
            <p:sp>
              <p:nvSpPr>
                <p:cNvPr id="49" name="矩形 48"/>
                <p:cNvSpPr/>
                <p:nvPr/>
              </p:nvSpPr>
              <p:spPr>
                <a:xfrm>
                  <a:off x="11047" y="297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>
                      <a:ln>
                        <a:noFill/>
                      </a:ln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物理页0</a:t>
                  </a:r>
                </a:p>
              </p:txBody>
            </p:sp>
            <p:sp>
              <p:nvSpPr>
                <p:cNvPr id="50" name="矩形 49"/>
                <p:cNvSpPr/>
                <p:nvPr/>
              </p:nvSpPr>
              <p:spPr>
                <a:xfrm>
                  <a:off x="11047" y="358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5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>
                      <a:ln>
                        <a:noFill/>
                      </a:ln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物理页1</a:t>
                  </a:r>
                </a:p>
              </p:txBody>
            </p:sp>
            <p:sp>
              <p:nvSpPr>
                <p:cNvPr id="51" name="矩形 50"/>
                <p:cNvSpPr/>
                <p:nvPr/>
              </p:nvSpPr>
              <p:spPr>
                <a:xfrm>
                  <a:off x="11047" y="4194"/>
                  <a:ext cx="1920" cy="610"/>
                </a:xfrm>
                <a:prstGeom prst="rect">
                  <a:avLst/>
                </a:prstGeom>
                <a:solidFill>
                  <a:schemeClr val="accent1">
                    <a:lumMod val="90000"/>
                    <a:alpha val="5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>
                      <a:ln>
                        <a:noFill/>
                      </a:ln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物理页2</a:t>
                  </a:r>
                </a:p>
              </p:txBody>
            </p:sp>
            <p:sp>
              <p:nvSpPr>
                <p:cNvPr id="52" name="矩形 51"/>
                <p:cNvSpPr/>
                <p:nvPr/>
              </p:nvSpPr>
              <p:spPr>
                <a:xfrm>
                  <a:off x="11047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</a:p>
              </p:txBody>
            </p:sp>
            <p:sp>
              <p:nvSpPr>
                <p:cNvPr id="53" name="矩形 52"/>
                <p:cNvSpPr/>
                <p:nvPr/>
              </p:nvSpPr>
              <p:spPr>
                <a:xfrm>
                  <a:off x="11047" y="5414"/>
                  <a:ext cx="1920" cy="610"/>
                </a:xfrm>
                <a:prstGeom prst="rect">
                  <a:avLst/>
                </a:prstGeom>
                <a:solidFill>
                  <a:schemeClr val="accent1">
                    <a:lumMod val="9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>
                      <a:ln>
                        <a:noFill/>
                      </a:ln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物理页4</a:t>
                  </a:r>
                </a:p>
              </p:txBody>
            </p:sp>
            <p:cxnSp>
              <p:nvCxnSpPr>
                <p:cNvPr id="54" name="直接箭头连接符 53"/>
                <p:cNvCxnSpPr>
                  <a:stCxn id="46" idx="3"/>
                  <a:endCxn id="49" idx="1"/>
                </p:cNvCxnSpPr>
                <p:nvPr/>
              </p:nvCxnSpPr>
              <p:spPr>
                <a:xfrm flipV="1">
                  <a:off x="7618" y="3279"/>
                  <a:ext cx="3429" cy="122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  <p:cxnSp>
              <p:nvCxnSpPr>
                <p:cNvPr id="55" name="直接箭头连接符 54"/>
                <p:cNvCxnSpPr>
                  <a:stCxn id="44" idx="3"/>
                  <a:endCxn id="53" idx="1"/>
                </p:cNvCxnSpPr>
                <p:nvPr/>
              </p:nvCxnSpPr>
              <p:spPr>
                <a:xfrm>
                  <a:off x="7618" y="3279"/>
                  <a:ext cx="3429" cy="244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</p:grpSp>
          <p:sp>
            <p:nvSpPr>
              <p:cNvPr id="56" name="文本框 55"/>
              <p:cNvSpPr txBox="1"/>
              <p:nvPr/>
            </p:nvSpPr>
            <p:spPr>
              <a:xfrm>
                <a:off x="9098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/>
                  <a:t>子进程</a:t>
                </a:r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14466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/>
                  <a:t>内存空间</a:t>
                </a:r>
              </a:p>
            </p:txBody>
          </p:sp>
        </p:grpSp>
        <p:cxnSp>
          <p:nvCxnSpPr>
            <p:cNvPr id="58" name="曲线连接符 57"/>
            <p:cNvCxnSpPr>
              <a:stCxn id="11" idx="3"/>
              <a:endCxn id="49" idx="3"/>
            </p:cNvCxnSpPr>
            <p:nvPr/>
          </p:nvCxnSpPr>
          <p:spPr>
            <a:xfrm>
              <a:off x="17947" y="3661"/>
              <a:ext cx="5" cy="3537"/>
            </a:xfrm>
            <a:prstGeom prst="curvedConnector3">
              <a:avLst>
                <a:gd name="adj1" fmla="val 11160000"/>
              </a:avLst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60" name="曲线连接符 59"/>
            <p:cNvCxnSpPr>
              <a:stCxn id="12" idx="3"/>
              <a:endCxn id="53" idx="3"/>
            </p:cNvCxnSpPr>
            <p:nvPr/>
          </p:nvCxnSpPr>
          <p:spPr>
            <a:xfrm>
              <a:off x="17947" y="4271"/>
              <a:ext cx="5" cy="5367"/>
            </a:xfrm>
            <a:prstGeom prst="curvedConnector3">
              <a:avLst>
                <a:gd name="adj1" fmla="val 18800000"/>
              </a:avLst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62" name="文本框 61"/>
            <p:cNvSpPr txBox="1"/>
            <p:nvPr/>
          </p:nvSpPr>
          <p:spPr>
            <a:xfrm>
              <a:off x="17994" y="6406"/>
              <a:ext cx="120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C00000"/>
                  </a:solidFill>
                </a:rPr>
                <a:t>copy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7598410" cy="70421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有必要在</a:t>
            </a:r>
            <a:r>
              <a:rPr kumimoji="1" lang="en-US" altLang="zh-CN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fork()</a:t>
            </a: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时复制所有数据吗？</a:t>
            </a:r>
            <a:endParaRPr kumimoji="1" lang="zh-CN" altLang="en-US" sz="20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COW是什么？为什么要使用它？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397510" y="1442085"/>
            <a:ext cx="6383020" cy="45605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在</a:t>
            </a:r>
            <a:r>
              <a:rPr lang="en-US" altLang="zh-CN" sz="2400" dirty="0">
                <a:sym typeface="+mn-ea"/>
              </a:rPr>
              <a:t>fork()</a:t>
            </a:r>
            <a:r>
              <a:rPr lang="zh-CN" altLang="en-US" sz="2400" dirty="0">
                <a:sym typeface="+mn-ea"/>
              </a:rPr>
              <a:t>时有必要将父进程的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所有数据都复制</a:t>
            </a:r>
            <a:r>
              <a:rPr lang="zh-CN" altLang="en-US" sz="2400" dirty="0">
                <a:sym typeface="+mn-ea"/>
              </a:rPr>
              <a:t>一遍给子进程吗？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ym typeface="+mn-ea"/>
              </a:rPr>
              <a:t>很显然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没有必要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为什么没有必要？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ym typeface="+mn-ea"/>
              </a:rPr>
              <a:t>因为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某些数据只需要被读</a:t>
            </a:r>
            <a:r>
              <a:rPr lang="zh-CN" altLang="en-US" sz="2400" dirty="0">
                <a:sym typeface="+mn-ea"/>
              </a:rPr>
              <a:t>，这些数据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只需要有一份</a:t>
            </a:r>
            <a:r>
              <a:rPr lang="zh-CN" altLang="en-US" sz="2400" dirty="0">
                <a:sym typeface="+mn-ea"/>
              </a:rPr>
              <a:t>就可以了（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共享</a:t>
            </a:r>
            <a:r>
              <a:rPr lang="zh-CN" altLang="en-US" sz="2400" dirty="0">
                <a:sym typeface="+mn-ea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如果能够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提前知道</a:t>
            </a:r>
            <a:r>
              <a:rPr lang="zh-CN" altLang="en-US" sz="2400" dirty="0">
                <a:sym typeface="+mn-ea"/>
              </a:rPr>
              <a:t>子进程要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读</a:t>
            </a:r>
            <a:r>
              <a:rPr lang="en-US" altLang="zh-CN" sz="2400" dirty="0">
                <a:solidFill>
                  <a:srgbClr val="C00000"/>
                </a:solidFill>
                <a:sym typeface="+mn-ea"/>
              </a:rPr>
              <a:t>/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写哪些页面</a:t>
            </a:r>
            <a:r>
              <a:rPr lang="zh-CN" altLang="en-US" sz="2400" dirty="0">
                <a:sym typeface="+mn-ea"/>
              </a:rPr>
              <a:t>，那么我们就能只挑出要</a:t>
            </a:r>
            <a:r>
              <a:rPr lang="zh-CN" altLang="en-US" sz="2400" dirty="0">
                <a:solidFill>
                  <a:srgbClr val="CE0000"/>
                </a:solidFill>
                <a:sym typeface="+mn-ea"/>
              </a:rPr>
              <a:t>被写</a:t>
            </a:r>
            <a:r>
              <a:rPr lang="zh-CN" altLang="en-US" sz="2400" dirty="0">
                <a:sym typeface="+mn-ea"/>
              </a:rPr>
              <a:t>的部分进行</a:t>
            </a:r>
            <a:r>
              <a:rPr lang="zh-CN" altLang="en-US" sz="2400" dirty="0">
                <a:solidFill>
                  <a:srgbClr val="CE0000"/>
                </a:solidFill>
                <a:sym typeface="+mn-ea"/>
              </a:rPr>
              <a:t>复制</a:t>
            </a:r>
            <a:r>
              <a:rPr lang="zh-CN" altLang="en-US" sz="2400" dirty="0">
                <a:sym typeface="+mn-ea"/>
              </a:rPr>
              <a:t>，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只读的部分就用父进程</a:t>
            </a:r>
            <a:r>
              <a:rPr lang="zh-CN" altLang="en-US" sz="2400" dirty="0">
                <a:sym typeface="+mn-ea"/>
              </a:rPr>
              <a:t>的那一份就好！（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共享</a:t>
            </a:r>
            <a:r>
              <a:rPr lang="zh-CN" altLang="en-US" sz="2400" dirty="0">
                <a:sym typeface="+mn-ea"/>
              </a:rPr>
              <a:t>）</a:t>
            </a:r>
          </a:p>
        </p:txBody>
      </p:sp>
      <p:grpSp>
        <p:nvGrpSpPr>
          <p:cNvPr id="63" name="组合 62"/>
          <p:cNvGrpSpPr/>
          <p:nvPr/>
        </p:nvGrpSpPr>
        <p:grpSpPr>
          <a:xfrm>
            <a:off x="6780530" y="1297940"/>
            <a:ext cx="5188585" cy="5015865"/>
            <a:chOff x="10678" y="2044"/>
            <a:chExt cx="8171" cy="7899"/>
          </a:xfrm>
        </p:grpSpPr>
        <p:grpSp>
          <p:nvGrpSpPr>
            <p:cNvPr id="18" name="组合 17"/>
            <p:cNvGrpSpPr/>
            <p:nvPr/>
          </p:nvGrpSpPr>
          <p:grpSpPr>
            <a:xfrm>
              <a:off x="10678" y="2044"/>
              <a:ext cx="7269" cy="3752"/>
              <a:chOff x="9025" y="5627"/>
              <a:chExt cx="7269" cy="3752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9025" y="6329"/>
                <a:ext cx="7269" cy="3050"/>
                <a:chOff x="5698" y="2974"/>
                <a:chExt cx="7269" cy="3050"/>
              </a:xfrm>
            </p:grpSpPr>
            <p:sp>
              <p:nvSpPr>
                <p:cNvPr id="26" name="矩形 25"/>
                <p:cNvSpPr/>
                <p:nvPr/>
              </p:nvSpPr>
              <p:spPr>
                <a:xfrm>
                  <a:off x="5698" y="2974"/>
                  <a:ext cx="1920" cy="61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5698" y="358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28" name="矩形 27"/>
                <p:cNvSpPr/>
                <p:nvPr/>
              </p:nvSpPr>
              <p:spPr>
                <a:xfrm>
                  <a:off x="5698" y="4194"/>
                  <a:ext cx="1920" cy="61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>
                  <a:off x="5698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>
                  <a:off x="5698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>
                  <a:off x="11047" y="297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>
                  <a:off x="11047" y="358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>
                  <a:off x="11047" y="4194"/>
                  <a:ext cx="1920" cy="610"/>
                </a:xfrm>
                <a:prstGeom prst="rect">
                  <a:avLst/>
                </a:prstGeom>
                <a:solidFill>
                  <a:schemeClr val="accent1">
                    <a:lumMod val="9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34" name="矩形 33"/>
                <p:cNvSpPr/>
                <p:nvPr/>
              </p:nvSpPr>
              <p:spPr>
                <a:xfrm>
                  <a:off x="11047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</a:p>
              </p:txBody>
            </p:sp>
            <p:sp>
              <p:nvSpPr>
                <p:cNvPr id="35" name="矩形 34"/>
                <p:cNvSpPr/>
                <p:nvPr/>
              </p:nvSpPr>
              <p:spPr>
                <a:xfrm>
                  <a:off x="11047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</a:p>
              </p:txBody>
            </p:sp>
            <p:cxnSp>
              <p:nvCxnSpPr>
                <p:cNvPr id="36" name="直接箭头连接符 35"/>
                <p:cNvCxnSpPr>
                  <a:stCxn id="28" idx="3"/>
                  <a:endCxn id="32" idx="1"/>
                </p:cNvCxnSpPr>
                <p:nvPr/>
              </p:nvCxnSpPr>
              <p:spPr>
                <a:xfrm flipV="1">
                  <a:off x="7618" y="3889"/>
                  <a:ext cx="3429" cy="61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  <p:cxnSp>
              <p:nvCxnSpPr>
                <p:cNvPr id="37" name="直接箭头连接符 36"/>
                <p:cNvCxnSpPr>
                  <a:stCxn id="26" idx="3"/>
                  <a:endCxn id="33" idx="1"/>
                </p:cNvCxnSpPr>
                <p:nvPr/>
              </p:nvCxnSpPr>
              <p:spPr>
                <a:xfrm>
                  <a:off x="7618" y="3279"/>
                  <a:ext cx="3429" cy="122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</p:grpSp>
          <p:sp>
            <p:nvSpPr>
              <p:cNvPr id="38" name="文本框 37"/>
              <p:cNvSpPr txBox="1"/>
              <p:nvPr/>
            </p:nvSpPr>
            <p:spPr>
              <a:xfrm>
                <a:off x="9098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/>
                  <a:t>父进程</a:t>
                </a: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14466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/>
                  <a:t>内存空间</a:t>
                </a: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0678" y="4261"/>
              <a:ext cx="7269" cy="5682"/>
              <a:chOff x="9025" y="3697"/>
              <a:chExt cx="7269" cy="5682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9025" y="3697"/>
                <a:ext cx="7269" cy="5682"/>
                <a:chOff x="5698" y="342"/>
                <a:chExt cx="7269" cy="5682"/>
              </a:xfrm>
            </p:grpSpPr>
            <p:sp>
              <p:nvSpPr>
                <p:cNvPr id="44" name="矩形 43"/>
                <p:cNvSpPr/>
                <p:nvPr/>
              </p:nvSpPr>
              <p:spPr>
                <a:xfrm>
                  <a:off x="5698" y="2974"/>
                  <a:ext cx="1920" cy="61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45" name="矩形 44"/>
                <p:cNvSpPr/>
                <p:nvPr/>
              </p:nvSpPr>
              <p:spPr>
                <a:xfrm>
                  <a:off x="5698" y="358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46" name="矩形 45"/>
                <p:cNvSpPr/>
                <p:nvPr/>
              </p:nvSpPr>
              <p:spPr>
                <a:xfrm>
                  <a:off x="5698" y="4194"/>
                  <a:ext cx="1920" cy="61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虚拟页2</a:t>
                  </a:r>
                </a:p>
              </p:txBody>
            </p:sp>
            <p:sp>
              <p:nvSpPr>
                <p:cNvPr id="47" name="矩形 46"/>
                <p:cNvSpPr/>
                <p:nvPr/>
              </p:nvSpPr>
              <p:spPr>
                <a:xfrm>
                  <a:off x="5698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</a:p>
              </p:txBody>
            </p:sp>
            <p:sp>
              <p:nvSpPr>
                <p:cNvPr id="48" name="矩形 47"/>
                <p:cNvSpPr/>
                <p:nvPr/>
              </p:nvSpPr>
              <p:spPr>
                <a:xfrm>
                  <a:off x="5698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虚拟页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</a:p>
              </p:txBody>
            </p:sp>
            <p:sp>
              <p:nvSpPr>
                <p:cNvPr id="49" name="矩形 48"/>
                <p:cNvSpPr/>
                <p:nvPr/>
              </p:nvSpPr>
              <p:spPr>
                <a:xfrm>
                  <a:off x="11047" y="297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>
                      <a:ln>
                        <a:noFill/>
                      </a:ln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物理页0</a:t>
                  </a:r>
                </a:p>
              </p:txBody>
            </p:sp>
            <p:sp>
              <p:nvSpPr>
                <p:cNvPr id="50" name="矩形 49"/>
                <p:cNvSpPr/>
                <p:nvPr/>
              </p:nvSpPr>
              <p:spPr>
                <a:xfrm>
                  <a:off x="11047" y="358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5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>
                      <a:ln>
                        <a:noFill/>
                      </a:ln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物理页1</a:t>
                  </a:r>
                </a:p>
              </p:txBody>
            </p:sp>
            <p:sp>
              <p:nvSpPr>
                <p:cNvPr id="51" name="矩形 50"/>
                <p:cNvSpPr/>
                <p:nvPr/>
              </p:nvSpPr>
              <p:spPr>
                <a:xfrm>
                  <a:off x="11047" y="4194"/>
                  <a:ext cx="1920" cy="610"/>
                </a:xfrm>
                <a:prstGeom prst="rect">
                  <a:avLst/>
                </a:prstGeom>
                <a:solidFill>
                  <a:schemeClr val="accent1">
                    <a:lumMod val="90000"/>
                    <a:alpha val="5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>
                      <a:ln>
                        <a:noFill/>
                      </a:ln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物理页2</a:t>
                  </a:r>
                </a:p>
              </p:txBody>
            </p:sp>
            <p:sp>
              <p:nvSpPr>
                <p:cNvPr id="52" name="矩形 51"/>
                <p:cNvSpPr/>
                <p:nvPr/>
              </p:nvSpPr>
              <p:spPr>
                <a:xfrm>
                  <a:off x="11047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</a:p>
              </p:txBody>
            </p:sp>
            <p:sp>
              <p:nvSpPr>
                <p:cNvPr id="53" name="矩形 52"/>
                <p:cNvSpPr/>
                <p:nvPr/>
              </p:nvSpPr>
              <p:spPr>
                <a:xfrm>
                  <a:off x="11047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pPr lvl="0" algn="ctr" fontAlgn="base">
                    <a:buClrTx/>
                    <a:buSzTx/>
                    <a:buFontTx/>
                  </a:pPr>
                  <a:r>
                    <a:rPr lang="zh-CN" altLang="en-US">
                      <a:ln>
                        <a:noFill/>
                      </a:ln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物理页4</a:t>
                  </a:r>
                </a:p>
              </p:txBody>
            </p:sp>
            <p:cxnSp>
              <p:nvCxnSpPr>
                <p:cNvPr id="54" name="直接箭头连接符 53"/>
                <p:cNvCxnSpPr>
                  <a:stCxn id="46" idx="3"/>
                  <a:endCxn id="49" idx="1"/>
                </p:cNvCxnSpPr>
                <p:nvPr/>
              </p:nvCxnSpPr>
              <p:spPr>
                <a:xfrm flipV="1">
                  <a:off x="7618" y="3279"/>
                  <a:ext cx="3429" cy="122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  <p:cxnSp>
              <p:nvCxnSpPr>
                <p:cNvPr id="55" name="直接箭头连接符 54"/>
                <p:cNvCxnSpPr>
                  <a:stCxn id="44" idx="3"/>
                </p:cNvCxnSpPr>
                <p:nvPr/>
              </p:nvCxnSpPr>
              <p:spPr>
                <a:xfrm flipV="1">
                  <a:off x="7618" y="342"/>
                  <a:ext cx="3426" cy="2937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</p:grpSp>
          <p:sp>
            <p:nvSpPr>
              <p:cNvPr id="56" name="文本框 55"/>
              <p:cNvSpPr txBox="1"/>
              <p:nvPr/>
            </p:nvSpPr>
            <p:spPr>
              <a:xfrm>
                <a:off x="9098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/>
                  <a:t>子进程</a:t>
                </a:r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14466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/>
                  <a:t>内存空间</a:t>
                </a:r>
              </a:p>
            </p:txBody>
          </p:sp>
        </p:grpSp>
        <p:cxnSp>
          <p:nvCxnSpPr>
            <p:cNvPr id="58" name="曲线连接符 57"/>
            <p:cNvCxnSpPr>
              <a:stCxn id="32" idx="3"/>
              <a:endCxn id="49" idx="3"/>
            </p:cNvCxnSpPr>
            <p:nvPr/>
          </p:nvCxnSpPr>
          <p:spPr>
            <a:xfrm>
              <a:off x="17947" y="3661"/>
              <a:ext cx="5" cy="3537"/>
            </a:xfrm>
            <a:prstGeom prst="curvedConnector3">
              <a:avLst>
                <a:gd name="adj1" fmla="val 11160000"/>
              </a:avLst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62" name="文本框 61"/>
            <p:cNvSpPr txBox="1"/>
            <p:nvPr/>
          </p:nvSpPr>
          <p:spPr>
            <a:xfrm>
              <a:off x="17643" y="5918"/>
              <a:ext cx="120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C00000"/>
                  </a:solidFill>
                </a:rPr>
                <a:t>copy</a:t>
              </a:r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7907655" y="4377055"/>
            <a:ext cx="765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srgbClr val="C00000"/>
                </a:solidFill>
              </a:rPr>
              <a:t>读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7907655" y="5170805"/>
            <a:ext cx="765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srgbClr val="C00000"/>
                </a:solidFill>
              </a:rPr>
              <a:t>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7598410" cy="70421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无法提前知道哪些页面要写怎么办？</a:t>
            </a:r>
            <a:endParaRPr kumimoji="1" lang="zh-CN" altLang="en-US" sz="20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COW是什么？为什么要使用它？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699875" cy="19875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在</a:t>
            </a:r>
            <a:r>
              <a:rPr lang="en-US" altLang="zh-CN" sz="2400" dirty="0">
                <a:sym typeface="+mn-ea"/>
              </a:rPr>
              <a:t>fork()</a:t>
            </a:r>
            <a:r>
              <a:rPr lang="zh-CN" altLang="en-US" sz="2400" dirty="0">
                <a:sym typeface="+mn-ea"/>
              </a:rPr>
              <a:t>时根本不知道子进程要写哪些数据，这要怎么办？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先假设子进程只会读即先都不复制</a:t>
            </a:r>
            <a:r>
              <a:rPr lang="zh-CN" altLang="en-US" sz="2400" dirty="0">
                <a:sym typeface="+mn-ea"/>
              </a:rPr>
              <a:t>，等他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要写的时候再处理</a:t>
            </a:r>
          </a:p>
          <a:p>
            <a:pPr algn="l">
              <a:lnSpc>
                <a:spcPct val="150000"/>
              </a:lnSpc>
              <a:buFontTx/>
            </a:pPr>
            <a:r>
              <a:rPr lang="zh-CN" altLang="en-US" sz="2400" dirty="0">
                <a:sym typeface="+mn-ea"/>
              </a:rPr>
              <a:t>怎么处理呢？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ym typeface="+mn-ea"/>
              </a:rPr>
              <a:t>把这一页</a:t>
            </a:r>
            <a:r>
              <a:rPr lang="en-US" altLang="zh-CN" sz="2400" dirty="0">
                <a:sym typeface="+mn-ea"/>
              </a:rPr>
              <a:t>copy</a:t>
            </a:r>
            <a:r>
              <a:rPr lang="zh-CN" altLang="en-US" sz="2400" dirty="0">
                <a:sym typeface="+mn-ea"/>
              </a:rPr>
              <a:t>给子进程，让他写在自己的页面里（写时复制）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140065" y="3752850"/>
            <a:ext cx="1318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读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274050" y="4764405"/>
            <a:ext cx="1318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读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325" y="3429000"/>
            <a:ext cx="2930525" cy="31178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4510" y="3234690"/>
            <a:ext cx="3211830" cy="3312160"/>
          </a:xfrm>
          <a:prstGeom prst="rect">
            <a:avLst/>
          </a:prstGeom>
        </p:spPr>
      </p:pic>
      <p:sp>
        <p:nvSpPr>
          <p:cNvPr id="10" name="右箭头 9"/>
          <p:cNvSpPr/>
          <p:nvPr/>
        </p:nvSpPr>
        <p:spPr>
          <a:xfrm>
            <a:off x="4636770" y="4767580"/>
            <a:ext cx="1395095" cy="44132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368165" y="4164965"/>
            <a:ext cx="1663065" cy="6019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4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7598410" cy="70421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Wingdings" panose="05000000000000000000" pitchFamily="2" charset="2"/>
              </a:rPr>
              <a:t>如果父进程也想写怎么办？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COW的逻辑是什么样的？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699875" cy="2311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我们刚刚只考虑了子进程对页面的写操作，可是如果父进程也想对某个页面进行写操作我们怎么办？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①跟之前一样，</a:t>
            </a:r>
            <a:r>
              <a:rPr lang="en-US" altLang="zh-CN" sz="2400" dirty="0">
                <a:sym typeface="+mn-ea"/>
              </a:rPr>
              <a:t>copy</a:t>
            </a:r>
            <a:r>
              <a:rPr lang="zh-CN" altLang="en-US" sz="2400" dirty="0">
                <a:sym typeface="+mn-ea"/>
              </a:rPr>
              <a:t>一份出去，让子进程用</a:t>
            </a:r>
            <a:r>
              <a:rPr lang="en-US" altLang="zh-CN" sz="2400" dirty="0">
                <a:sym typeface="+mn-ea"/>
              </a:rPr>
              <a:t>copy</a:t>
            </a:r>
            <a:r>
              <a:rPr lang="zh-CN" altLang="en-US" sz="2400" dirty="0">
                <a:sym typeface="+mn-ea"/>
              </a:rPr>
              <a:t>版</a:t>
            </a: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765" y="3237230"/>
            <a:ext cx="3411855" cy="355727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681990" y="4674870"/>
            <a:ext cx="10972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7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7598410" cy="70421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Wingdings" panose="05000000000000000000" pitchFamily="2" charset="2"/>
              </a:rPr>
              <a:t>方法①：让子进程用</a:t>
            </a:r>
            <a:r>
              <a:rPr kumimoji="1" lang="en-US" altLang="zh-CN" sz="20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Wingdings" panose="05000000000000000000" pitchFamily="2" charset="2"/>
              </a:rPr>
              <a:t>copy</a:t>
            </a:r>
            <a:r>
              <a:rPr kumimoji="1" lang="zh-CN" altLang="en-US" sz="20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Wingdings" panose="05000000000000000000" pitchFamily="2" charset="2"/>
              </a:rPr>
              <a:t>版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COW的逻辑是什么样的？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699875" cy="34683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如果当父进程想要写，子进程就需要</a:t>
            </a:r>
            <a:r>
              <a:rPr lang="en-US" altLang="zh-CN" sz="2400" dirty="0">
                <a:sym typeface="+mn-ea"/>
              </a:rPr>
              <a:t>“</a:t>
            </a:r>
            <a:r>
              <a:rPr lang="zh-CN" altLang="en-US" sz="2400" dirty="0">
                <a:sym typeface="+mn-ea"/>
              </a:rPr>
              <a:t>迁就</a:t>
            </a:r>
            <a:r>
              <a:rPr lang="en-US" altLang="zh-CN" sz="2400" dirty="0">
                <a:sym typeface="+mn-ea"/>
              </a:rPr>
              <a:t>”</a:t>
            </a:r>
            <a:r>
              <a:rPr lang="zh-CN" altLang="en-US" sz="2400" dirty="0">
                <a:sym typeface="+mn-ea"/>
              </a:rPr>
              <a:t>父进程，自己用</a:t>
            </a:r>
            <a:r>
              <a:rPr lang="en-US" altLang="zh-CN" sz="2400" dirty="0">
                <a:sym typeface="+mn-ea"/>
              </a:rPr>
              <a:t>copy</a:t>
            </a:r>
            <a:r>
              <a:rPr lang="zh-CN" altLang="en-US" sz="2400" dirty="0">
                <a:sym typeface="+mn-ea"/>
              </a:rPr>
              <a:t>版：未免太霸道！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如果父进程有很多子进程，那么让子进程用</a:t>
            </a:r>
            <a:r>
              <a:rPr lang="en-US" altLang="zh-CN" sz="2400" dirty="0">
                <a:sym typeface="+mn-ea"/>
              </a:rPr>
              <a:t>copy</a:t>
            </a:r>
            <a:r>
              <a:rPr lang="zh-CN" altLang="en-US" sz="2400" dirty="0">
                <a:sym typeface="+mn-ea"/>
              </a:rPr>
              <a:t>版时，就需要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修改所有子进程的映射关系</a:t>
            </a:r>
            <a:r>
              <a:rPr lang="zh-CN" altLang="en-US" sz="2400" dirty="0">
                <a:sym typeface="+mn-ea"/>
              </a:rPr>
              <a:t>，太麻烦了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父进程如果还有父进程（祖父），那父进程也变成了</a:t>
            </a:r>
            <a:r>
              <a:rPr lang="en-US" altLang="zh-CN" sz="2400" dirty="0">
                <a:sym typeface="+mn-ea"/>
              </a:rPr>
              <a:t>“</a:t>
            </a:r>
            <a:r>
              <a:rPr lang="zh-CN" altLang="en-US" sz="2400" dirty="0">
                <a:sym typeface="+mn-ea"/>
              </a:rPr>
              <a:t>子</a:t>
            </a:r>
            <a:r>
              <a:rPr lang="en-US" altLang="zh-CN" sz="2400" dirty="0">
                <a:sym typeface="+mn-ea"/>
              </a:rPr>
              <a:t>”</a:t>
            </a:r>
            <a:r>
              <a:rPr lang="zh-CN" altLang="en-US" sz="2400" dirty="0">
                <a:sym typeface="+mn-ea"/>
              </a:rPr>
              <a:t>：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两个选择</a:t>
            </a:r>
            <a:endParaRPr lang="zh-CN" altLang="en-US" sz="2400" dirty="0">
              <a:sym typeface="+mn-ea"/>
            </a:endParaRPr>
          </a:p>
          <a:p>
            <a:pPr marL="457200" lvl="2" algn="l">
              <a:lnSpc>
                <a:spcPct val="150000"/>
              </a:lnSpc>
              <a:buFontTx/>
            </a:pPr>
            <a:r>
              <a:rPr lang="en-US" altLang="zh-CN" sz="2000" dirty="0">
                <a:latin typeface="+mn-lt"/>
                <a:ea typeface="+mn-ea"/>
                <a:sym typeface="+mn-ea"/>
              </a:rPr>
              <a:t>A:</a:t>
            </a:r>
            <a:r>
              <a:rPr lang="zh-CN" altLang="en-US" sz="2000" dirty="0">
                <a:latin typeface="+mn-lt"/>
                <a:ea typeface="+mn-ea"/>
                <a:sym typeface="+mn-ea"/>
              </a:rPr>
              <a:t>父进程</a:t>
            </a:r>
            <a:r>
              <a:rPr lang="zh-CN" altLang="en-US" sz="2000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先</a:t>
            </a:r>
            <a:r>
              <a:rPr lang="zh-CN" altLang="en-US" sz="2000" dirty="0">
                <a:latin typeface="+mn-lt"/>
                <a:ea typeface="+mn-ea"/>
                <a:sym typeface="+mn-ea"/>
              </a:rPr>
              <a:t>从祖父那边</a:t>
            </a:r>
            <a:r>
              <a:rPr lang="zh-CN" altLang="en-US" sz="2000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copy一份</a:t>
            </a:r>
            <a:r>
              <a:rPr lang="zh-CN" altLang="en-US" sz="2000" dirty="0">
                <a:latin typeface="+mn-lt"/>
                <a:ea typeface="+mn-ea"/>
                <a:sym typeface="+mn-ea"/>
              </a:rPr>
              <a:t>，又因为自己要写东西，所以</a:t>
            </a:r>
            <a:r>
              <a:rPr lang="zh-CN" altLang="en-US" sz="2000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再</a:t>
            </a:r>
            <a:r>
              <a:rPr lang="en-US" altLang="zh-CN" sz="2000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copy</a:t>
            </a:r>
            <a:r>
              <a:rPr lang="zh-CN" altLang="en-US" sz="2000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一份</a:t>
            </a:r>
            <a:r>
              <a:rPr lang="zh-CN" altLang="en-US" sz="2000" dirty="0">
                <a:latin typeface="+mn-lt"/>
                <a:ea typeface="+mn-ea"/>
                <a:sym typeface="+mn-ea"/>
              </a:rPr>
              <a:t>给子进程们用</a:t>
            </a:r>
          </a:p>
          <a:p>
            <a:pPr marL="457200" lvl="2" algn="l">
              <a:lnSpc>
                <a:spcPct val="150000"/>
              </a:lnSpc>
              <a:buFontTx/>
            </a:pPr>
            <a:r>
              <a:rPr lang="en-US" altLang="zh-CN" sz="2000" dirty="0">
                <a:latin typeface="+mn-lt"/>
                <a:ea typeface="+mn-ea"/>
                <a:sym typeface="+mn-ea"/>
              </a:rPr>
              <a:t>B:</a:t>
            </a:r>
            <a:r>
              <a:rPr lang="zh-CN" altLang="en-US" sz="2000" dirty="0">
                <a:latin typeface="+mn-lt"/>
                <a:ea typeface="+mn-ea"/>
                <a:sym typeface="+mn-ea"/>
              </a:rPr>
              <a:t>父进程从祖父那边copy一份，子进程们</a:t>
            </a:r>
            <a:r>
              <a:rPr lang="zh-CN" altLang="en-US" sz="2000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继续用祖父</a:t>
            </a:r>
            <a:r>
              <a:rPr lang="zh-CN" altLang="en-US" sz="2000" dirty="0">
                <a:latin typeface="+mn-lt"/>
                <a:ea typeface="+mn-ea"/>
                <a:sym typeface="+mn-ea"/>
              </a:rPr>
              <a:t>那边那份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0425" y="4356735"/>
            <a:ext cx="2337435" cy="2437765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8376920" y="4910455"/>
            <a:ext cx="10972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7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7598410" cy="70421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Wingdings" panose="05000000000000000000" pitchFamily="2" charset="2"/>
              </a:rPr>
              <a:t>如果父进程也想写怎么办？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COW的逻辑是什么样的？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699875" cy="2311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我们刚刚只考虑了子进程对页面的写操作，可是如果父进程也想对某个页面进行写操作我们怎么办？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②谁想写，谁用</a:t>
            </a:r>
            <a:r>
              <a:rPr lang="en-US" altLang="zh-CN" sz="2400" dirty="0">
                <a:sym typeface="+mn-ea"/>
              </a:rPr>
              <a:t>copy</a:t>
            </a:r>
            <a:r>
              <a:rPr lang="zh-CN" altLang="en-US" sz="2400" dirty="0">
                <a:sym typeface="+mn-ea"/>
              </a:rPr>
              <a:t>版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870" y="3219450"/>
            <a:ext cx="3442970" cy="363855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1342390" y="4422775"/>
            <a:ext cx="10972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7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7598410" cy="70421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Wingdings" panose="05000000000000000000" pitchFamily="2" charset="2"/>
              </a:rPr>
              <a:t>如何知道有人想修改共享的页面？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COW的逻辑是什么样的？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699875" cy="2311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当用户对数据进行写时，系统会检查这个页面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是否可写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如果这个页面不可写，则会发出警报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缺页中断</a:t>
            </a:r>
          </a:p>
          <a:p>
            <a:pPr algn="l">
              <a:lnSpc>
                <a:spcPct val="150000"/>
              </a:lnSpc>
              <a:buFontTx/>
            </a:pPr>
            <a:r>
              <a:rPr lang="zh-CN" altLang="en-US" sz="2400" dirty="0">
                <a:sym typeface="+mn-ea"/>
              </a:rPr>
              <a:t>依据什么判断可写与否？</a:t>
            </a:r>
            <a:r>
              <a:rPr lang="en-US" altLang="zh-CN" sz="2400" dirty="0">
                <a:sym typeface="+mn-ea"/>
              </a:rPr>
              <a:t>——PTE</a:t>
            </a:r>
            <a:r>
              <a:rPr lang="zh-CN" altLang="en-US" sz="2400" dirty="0">
                <a:sym typeface="+mn-ea"/>
              </a:rPr>
              <a:t>中的</a:t>
            </a:r>
            <a:r>
              <a:rPr lang="en-US" altLang="zh-CN" sz="2400" dirty="0">
                <a:sym typeface="+mn-ea"/>
              </a:rPr>
              <a:t>flag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9910" y="1625600"/>
            <a:ext cx="3895725" cy="50101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7598410" cy="70421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Wingdings" panose="05000000000000000000" pitchFamily="2" charset="2"/>
              </a:rPr>
              <a:t>怎么区分某个页是单纯的无法写还是共享页？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COW的逻辑是什么样的？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699875" cy="2311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还是使用</a:t>
            </a:r>
            <a:r>
              <a:rPr lang="en-US" altLang="zh-CN" sz="2400" dirty="0">
                <a:sym typeface="+mn-ea"/>
              </a:rPr>
              <a:t>pte</a:t>
            </a:r>
            <a:r>
              <a:rPr lang="zh-CN" altLang="en-US" sz="2400" dirty="0">
                <a:sym typeface="+mn-ea"/>
              </a:rPr>
              <a:t>中的</a:t>
            </a:r>
            <a:r>
              <a:rPr lang="en-US" altLang="zh-CN" sz="2400" dirty="0">
                <a:sym typeface="+mn-ea"/>
              </a:rPr>
              <a:t>flag</a:t>
            </a:r>
            <a:r>
              <a:rPr lang="zh-CN" altLang="en-US" sz="2400" dirty="0">
                <a:sym typeface="+mn-ea"/>
              </a:rPr>
              <a:t>，对于共享页，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既不能写</a:t>
            </a:r>
            <a:r>
              <a:rPr lang="zh-CN" altLang="en-US" sz="2400" dirty="0">
                <a:sym typeface="+mn-ea"/>
              </a:rPr>
              <a:t>，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又要标志着共享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所以需要定义新的</a:t>
            </a:r>
            <a:r>
              <a:rPr lang="en-US" altLang="zh-CN" sz="2400" dirty="0">
                <a:sym typeface="+mn-ea"/>
              </a:rPr>
              <a:t>flag</a:t>
            </a:r>
            <a:r>
              <a:rPr lang="zh-CN" altLang="en-US" sz="2400" dirty="0">
                <a:sym typeface="+mn-ea"/>
              </a:rPr>
              <a:t>：如</a:t>
            </a:r>
            <a:r>
              <a:rPr lang="en-US" altLang="zh-CN" sz="2400" i="1" dirty="0">
                <a:sym typeface="+mn-ea"/>
              </a:rPr>
              <a:t>PTE_COW</a:t>
            </a:r>
            <a:endParaRPr lang="zh-CN" altLang="en-US" sz="2400" i="1" dirty="0"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7598410" cy="70421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Wingdings" panose="05000000000000000000" pitchFamily="2" charset="2"/>
              </a:rPr>
              <a:t>知道后要怎么处理？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COW的逻辑是什么样的？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699875" cy="2311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在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中断处理程序</a:t>
            </a:r>
            <a:r>
              <a:rPr lang="en-US" altLang="zh-CN" sz="2400" dirty="0">
                <a:solidFill>
                  <a:srgbClr val="C00000"/>
                </a:solidFill>
                <a:sym typeface="+mn-ea"/>
              </a:rPr>
              <a:t>usertrap()</a:t>
            </a:r>
            <a:r>
              <a:rPr lang="zh-CN" altLang="en-US" sz="2400" dirty="0">
                <a:sym typeface="+mn-ea"/>
              </a:rPr>
              <a:t>中，需要根据中断号确定是何种中断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确定中断类型</a:t>
            </a:r>
            <a:r>
              <a:rPr lang="zh-CN" altLang="en-US" sz="2400" dirty="0">
                <a:sym typeface="+mn-ea"/>
              </a:rPr>
              <a:t>后，要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决定作何处理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ym typeface="+mn-ea"/>
              </a:rPr>
              <a:t>把目标页</a:t>
            </a:r>
            <a:r>
              <a:rPr lang="en-US" altLang="zh-CN" sz="2400" dirty="0">
                <a:sym typeface="+mn-ea"/>
              </a:rPr>
              <a:t>copy</a:t>
            </a:r>
            <a:r>
              <a:rPr lang="zh-CN" altLang="en-US" sz="2400" dirty="0">
                <a:sym typeface="+mn-ea"/>
              </a:rPr>
              <a:t>一下，谁写谁用</a:t>
            </a:r>
            <a:r>
              <a:rPr lang="en-US" altLang="zh-CN" sz="2400" dirty="0">
                <a:sym typeface="+mn-ea"/>
              </a:rPr>
              <a:t>copy</a:t>
            </a:r>
            <a:r>
              <a:rPr lang="zh-CN" altLang="en-US" sz="2400" dirty="0">
                <a:sym typeface="+mn-ea"/>
              </a:rPr>
              <a:t>页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425" y="2879090"/>
            <a:ext cx="4667250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7598410" cy="704215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Wingdings" panose="05000000000000000000" pitchFamily="2" charset="2"/>
              </a:rPr>
              <a:t>这样做会产生什么问题？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COW的逻辑是什么样的？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699875" cy="25050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在原先的</a:t>
            </a:r>
            <a:r>
              <a:rPr lang="en-US" altLang="zh-CN" sz="2400" dirty="0">
                <a:sym typeface="+mn-ea"/>
              </a:rPr>
              <a:t>xv6</a:t>
            </a:r>
            <a:r>
              <a:rPr lang="zh-CN" altLang="en-US" sz="2400" dirty="0">
                <a:sym typeface="+mn-ea"/>
              </a:rPr>
              <a:t>中，当一个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进程被杀死</a:t>
            </a:r>
            <a:r>
              <a:rPr lang="zh-CN" altLang="en-US" sz="2400" dirty="0">
                <a:sym typeface="+mn-ea"/>
              </a:rPr>
              <a:t>，它需要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释放掉它申请的所有页面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进程也可以主动调用</a:t>
            </a:r>
            <a:r>
              <a:rPr lang="en-US" altLang="zh-CN" sz="2400" dirty="0">
                <a:solidFill>
                  <a:srgbClr val="C00000"/>
                </a:solidFill>
                <a:sym typeface="+mn-ea"/>
              </a:rPr>
              <a:t>free()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函数去释放页面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这样的设计显然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没有考虑</a:t>
            </a:r>
            <a:r>
              <a:rPr lang="zh-CN" altLang="en-US" sz="2400" dirty="0">
                <a:sym typeface="+mn-ea"/>
              </a:rPr>
              <a:t>到页面的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共享问题</a:t>
            </a:r>
            <a:r>
              <a:rPr lang="zh-CN" altLang="en-US" sz="2400" dirty="0">
                <a:sym typeface="+mn-ea"/>
              </a:rPr>
              <a:t>：如果共享的页面被某个进程释放掉，其他进程想要的数据就丢失了，这显然不合理！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所以系统应该统计一下，每个页面被多少个进程共享，当这个页面没有进程共享它时，才可以真正把它释放掉</a:t>
            </a:r>
            <a:endParaRPr lang="en-US" altLang="zh-CN" sz="2400" dirty="0"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solidFill>
                  <a:srgbClr val="002060"/>
                </a:solidFill>
                <a:sym typeface="+mn-ea"/>
              </a:rPr>
              <a:t>实验内容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任务一：实现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COW</a:t>
            </a: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任务要求：</a:t>
            </a:r>
          </a:p>
          <a:p>
            <a:pPr marL="1828800" lvl="2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fork()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函数，在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fork()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时仅复制映射信息，而非整页数据</a:t>
            </a:r>
          </a:p>
          <a:p>
            <a:pPr marL="1828800" lvl="2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在任何进程想要修改共享数据时，需要进行写时复制</a:t>
            </a:r>
          </a:p>
          <a:p>
            <a:pPr marL="1828800" lvl="2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完成评分测试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./grade-lab-cow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进行批分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512570" y="1767205"/>
            <a:ext cx="8755380" cy="5067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/>
              <a:t>$ git checkout cow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221615" y="910590"/>
            <a:ext cx="11296015" cy="5601335"/>
          </a:xfrm>
        </p:spPr>
        <p:txBody>
          <a:bodyPr/>
          <a:lstStyle/>
          <a:p>
            <a:pPr lvl="0" indent="0" algn="l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990000"/>
                </a:solidFill>
              </a:rPr>
              <a:t>回答问题</a:t>
            </a:r>
            <a:endParaRPr lang="en-US" altLang="zh-CN" sz="2400" b="1" dirty="0">
              <a:solidFill>
                <a:srgbClr val="990000"/>
              </a:solidFill>
            </a:endParaRPr>
          </a:p>
          <a:p>
            <a:pPr lvl="0" algn="l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sz="2000" dirty="0"/>
              <a:t>(1) </a:t>
            </a:r>
            <a:r>
              <a:rPr lang="zh-CN" altLang="en-US" sz="2000" dirty="0"/>
              <a:t>请分析使用</a:t>
            </a:r>
            <a:r>
              <a:rPr lang="en-US" altLang="zh-CN" sz="2000" dirty="0"/>
              <a:t>/</a:t>
            </a:r>
            <a:r>
              <a:rPr lang="zh-CN" altLang="en-US" sz="2000" dirty="0"/>
              <a:t>不使用</a:t>
            </a:r>
            <a:r>
              <a:rPr lang="en-US" altLang="zh-CN" sz="2000" dirty="0"/>
              <a:t>COW</a:t>
            </a:r>
            <a:r>
              <a:rPr lang="zh-CN" altLang="en-US" sz="2000" dirty="0"/>
              <a:t>分别有哪些优缺点</a:t>
            </a:r>
            <a:endParaRPr sz="2000" dirty="0"/>
          </a:p>
          <a:p>
            <a:pPr lvl="0" algn="l">
              <a:lnSpc>
                <a:spcPct val="200000"/>
              </a:lnSpc>
              <a:buFont typeface="Wingdings" panose="05000000000000000000" charset="0"/>
              <a:buChar char="q"/>
            </a:pPr>
            <a:r>
              <a:rPr sz="2000" dirty="0"/>
              <a:t>(2) </a:t>
            </a:r>
            <a:r>
              <a:rPr lang="zh-CN" sz="2000" dirty="0"/>
              <a:t>请说明系统是如何知道有进程在写共享数据的</a:t>
            </a:r>
            <a:endParaRPr sz="2000" dirty="0"/>
          </a:p>
          <a:p>
            <a:pPr lvl="0" algn="l">
              <a:lnSpc>
                <a:spcPct val="200000"/>
              </a:lnSpc>
              <a:buFont typeface="Wingdings" panose="05000000000000000000" charset="0"/>
              <a:buChar char="q"/>
            </a:pPr>
            <a:r>
              <a:rPr sz="2000" dirty="0"/>
              <a:t>(3) </a:t>
            </a:r>
            <a:r>
              <a:rPr lang="zh-CN" sz="2000" dirty="0"/>
              <a:t>试分析，对共享页面的写操作，是否只会发生在用户态？若是，请说明理由；若否，请举例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solidFill>
                  <a:srgbClr val="002060"/>
                </a:solidFill>
                <a:sym typeface="+mn-ea"/>
              </a:rPr>
              <a:t>实验内容</a:t>
            </a:r>
            <a:endParaRPr lang="zh-CN" alt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4" name="矩形 3"/>
          <p:cNvSpPr>
            <a:spLocks noChangeArrowheads="1"/>
          </p:cNvSpPr>
          <p:nvPr/>
        </p:nvSpPr>
        <p:spPr bwMode="auto">
          <a:xfrm>
            <a:off x="0" y="1840062"/>
            <a:ext cx="12192000" cy="2046288"/>
          </a:xfrm>
          <a:prstGeom prst="rect">
            <a:avLst/>
          </a:prstGeom>
          <a:solidFill>
            <a:srgbClr val="004070">
              <a:alpha val="89803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1pPr>
            <a:lvl2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2pPr>
            <a:lvl3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3pPr>
            <a:lvl4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4pPr>
            <a:lvl5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Thank</a:t>
            </a:r>
            <a:r>
              <a:rPr lang="zh-CN" alt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You</a:t>
            </a:r>
            <a:endParaRPr lang="zh-CN" altLang="en-US" sz="48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147" name="标题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807085" y="0"/>
            <a:ext cx="3253105" cy="933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1" compatLnSpc="1"/>
          <a:lstStyle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16388A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l" eaLnBrk="1" latinLnBrk="0" hangingPunct="1"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操作系统实验</a:t>
            </a:r>
          </a:p>
        </p:txBody>
      </p:sp>
      <p:pic>
        <p:nvPicPr>
          <p:cNvPr id="3" name="图片 2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4821" y="117457"/>
            <a:ext cx="905011" cy="815993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主题1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  <a:sym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  <a:sym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主题1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  <a:sym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  <a:sym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1213</Words>
  <Application>Microsoft Office PowerPoint</Application>
  <PresentationFormat>宽屏</PresentationFormat>
  <Paragraphs>164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等线</vt:lpstr>
      <vt:lpstr>宋体</vt:lpstr>
      <vt:lpstr>微软雅黑</vt:lpstr>
      <vt:lpstr>Arial</vt:lpstr>
      <vt:lpstr>Calibri</vt:lpstr>
      <vt:lpstr>Times New Roman</vt:lpstr>
      <vt:lpstr>Wingdings</vt:lpstr>
      <vt:lpstr>主题1</vt:lpstr>
      <vt:lpstr>1_主题1</vt:lpstr>
      <vt:lpstr>操作系统实验</vt:lpstr>
      <vt:lpstr>实验目录——COW</vt:lpstr>
      <vt:lpstr>COW是什么？为什么要使用它？</vt:lpstr>
      <vt:lpstr>COW是什么？为什么要使用它？</vt:lpstr>
      <vt:lpstr>COW是什么？为什么要使用它？</vt:lpstr>
      <vt:lpstr>COW是什么？为什么要使用它？</vt:lpstr>
      <vt:lpstr>COW的逻辑是什么样的？</vt:lpstr>
      <vt:lpstr>COW的逻辑是什么样的？</vt:lpstr>
      <vt:lpstr>COW的逻辑是什么样的？</vt:lpstr>
      <vt:lpstr>COW的逻辑是什么样的？</vt:lpstr>
      <vt:lpstr>COW的逻辑是什么样的？</vt:lpstr>
      <vt:lpstr>COW的逻辑是什么样的？</vt:lpstr>
      <vt:lpstr>COW的逻辑是什么样的？</vt:lpstr>
      <vt:lpstr>实验内容</vt:lpstr>
      <vt:lpstr>实验内容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LWT</dc:creator>
  <cp:lastModifiedBy>851627648@qq.com</cp:lastModifiedBy>
  <cp:revision>2052</cp:revision>
  <dcterms:created xsi:type="dcterms:W3CDTF">2024-03-22T09:23:00Z</dcterms:created>
  <dcterms:modified xsi:type="dcterms:W3CDTF">2025-10-31T01:33:24Z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E920F76B14DB45AD8C7B52BE9AAB98F8_13</vt:lpwstr>
  </property>
  <property fmtid="{D5CDD505-2E9C-101B-9397-08002B2CF9AE}" pid="3" name="KSOProductBuildVer">
    <vt:lpwstr>2052-12.1.0.23125</vt:lpwstr>
  </property>
</Properties>
</file>