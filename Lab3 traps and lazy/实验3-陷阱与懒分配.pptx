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2.xml" ContentType="application/vnd.openxmlformats-officedocument.presentationml.tags+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8"/>
  </p:notesMasterIdLst>
  <p:handoutMasterIdLst>
    <p:handoutMasterId r:id="rId49"/>
  </p:handoutMasterIdLst>
  <p:sldIdLst>
    <p:sldId id="522" r:id="rId3"/>
    <p:sldId id="527" r:id="rId4"/>
    <p:sldId id="763" r:id="rId5"/>
    <p:sldId id="716" r:id="rId6"/>
    <p:sldId id="714" r:id="rId7"/>
    <p:sldId id="715" r:id="rId8"/>
    <p:sldId id="739" r:id="rId9"/>
    <p:sldId id="547" r:id="rId10"/>
    <p:sldId id="719" r:id="rId11"/>
    <p:sldId id="720" r:id="rId12"/>
    <p:sldId id="723" r:id="rId13"/>
    <p:sldId id="726" r:id="rId14"/>
    <p:sldId id="740" r:id="rId15"/>
    <p:sldId id="721" r:id="rId16"/>
    <p:sldId id="729" r:id="rId17"/>
    <p:sldId id="741" r:id="rId18"/>
    <p:sldId id="731" r:id="rId19"/>
    <p:sldId id="732" r:id="rId20"/>
    <p:sldId id="727" r:id="rId21"/>
    <p:sldId id="743" r:id="rId22"/>
    <p:sldId id="728" r:id="rId23"/>
    <p:sldId id="733" r:id="rId24"/>
    <p:sldId id="734" r:id="rId25"/>
    <p:sldId id="738" r:id="rId26"/>
    <p:sldId id="735" r:id="rId27"/>
    <p:sldId id="736" r:id="rId28"/>
    <p:sldId id="690" r:id="rId29"/>
    <p:sldId id="693" r:id="rId30"/>
    <p:sldId id="694" r:id="rId31"/>
    <p:sldId id="744" r:id="rId32"/>
    <p:sldId id="745" r:id="rId33"/>
    <p:sldId id="752" r:id="rId34"/>
    <p:sldId id="753" r:id="rId35"/>
    <p:sldId id="750" r:id="rId36"/>
    <p:sldId id="755" r:id="rId37"/>
    <p:sldId id="756" r:id="rId38"/>
    <p:sldId id="754" r:id="rId39"/>
    <p:sldId id="757" r:id="rId40"/>
    <p:sldId id="758" r:id="rId41"/>
    <p:sldId id="759" r:id="rId42"/>
    <p:sldId id="760" r:id="rId43"/>
    <p:sldId id="761" r:id="rId44"/>
    <p:sldId id="764" r:id="rId45"/>
    <p:sldId id="762" r:id="rId46"/>
    <p:sldId id="478" r:id="rId47"/>
  </p:sldIdLst>
  <p:sldSz cx="12192000" cy="6858000"/>
  <p:notesSz cx="6858000" cy="9144000"/>
  <p:custDataLst>
    <p:tags r:id="rId5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FBAC4761-0095-4685-B9DA-229890EFEBB0}">
          <p14:sldIdLst>
            <p14:sldId id="522"/>
            <p14:sldId id="527"/>
            <p14:sldId id="763"/>
            <p14:sldId id="716"/>
            <p14:sldId id="714"/>
            <p14:sldId id="715"/>
            <p14:sldId id="739"/>
            <p14:sldId id="547"/>
            <p14:sldId id="719"/>
            <p14:sldId id="720"/>
            <p14:sldId id="723"/>
            <p14:sldId id="726"/>
            <p14:sldId id="740"/>
            <p14:sldId id="721"/>
            <p14:sldId id="729"/>
            <p14:sldId id="741"/>
            <p14:sldId id="731"/>
            <p14:sldId id="732"/>
            <p14:sldId id="727"/>
            <p14:sldId id="743"/>
            <p14:sldId id="728"/>
            <p14:sldId id="733"/>
            <p14:sldId id="734"/>
            <p14:sldId id="738"/>
            <p14:sldId id="735"/>
            <p14:sldId id="736"/>
            <p14:sldId id="690"/>
            <p14:sldId id="693"/>
            <p14:sldId id="694"/>
            <p14:sldId id="744"/>
            <p14:sldId id="745"/>
            <p14:sldId id="752"/>
            <p14:sldId id="753"/>
            <p14:sldId id="750"/>
            <p14:sldId id="755"/>
            <p14:sldId id="756"/>
            <p14:sldId id="754"/>
            <p14:sldId id="757"/>
            <p14:sldId id="758"/>
            <p14:sldId id="759"/>
            <p14:sldId id="760"/>
            <p14:sldId id="761"/>
            <p14:sldId id="764"/>
            <p14:sldId id="762"/>
            <p14:sldId id="4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E7A"/>
    <a:srgbClr val="990000"/>
    <a:srgbClr val="9F1010"/>
    <a:srgbClr val="A96D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08" autoAdjust="0"/>
    <p:restoredTop sz="96331" autoAdjust="0"/>
  </p:normalViewPr>
  <p:slideViewPr>
    <p:cSldViewPr snapToGrid="0">
      <p:cViewPr varScale="1">
        <p:scale>
          <a:sx n="105" d="100"/>
          <a:sy n="105" d="100"/>
        </p:scale>
        <p:origin x="60" y="1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2025/11/17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44E5-6B83-484E-B06E-5269D044D462}" type="datetimeFigureOut">
              <a:rPr lang="zh-CN" altLang="en-US" smtClean="0"/>
              <a:t>2025/11/17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45C01-8370-4DA3-8DA5-A0AE7AECFD7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t>1</a:t>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t>1</a:t>
            </a:fld>
            <a:endParaRPr lang="zh-CN" altLang="en-US">
              <a:sym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通俗点讲，一个 </a:t>
            </a:r>
            <a:r>
              <a:rPr lang="en-US" altLang="zh-CN" dirty="0"/>
              <a:t>Caller Saved </a:t>
            </a:r>
            <a:r>
              <a:rPr lang="zh-CN" altLang="en-US" dirty="0"/>
              <a:t>寄存器可能被其他函数重写。举个例子，</a:t>
            </a:r>
            <a:r>
              <a:rPr lang="en-US" altLang="zh-CN" dirty="0"/>
              <a:t>ra </a:t>
            </a:r>
            <a:r>
              <a:rPr lang="zh-CN" altLang="en-US" dirty="0"/>
              <a:t>寄存器是 </a:t>
            </a:r>
            <a:r>
              <a:rPr lang="en-US" altLang="zh-CN" dirty="0"/>
              <a:t>Caller Saved </a:t>
            </a:r>
            <a:r>
              <a:rPr lang="zh-CN" altLang="en-US" dirty="0"/>
              <a:t>，当函数 </a:t>
            </a:r>
            <a:r>
              <a:rPr lang="en-US" altLang="zh-CN" dirty="0"/>
              <a:t>a </a:t>
            </a:r>
            <a:r>
              <a:rPr lang="zh-CN" altLang="en-US" dirty="0"/>
              <a:t>调用函数 </a:t>
            </a:r>
            <a:r>
              <a:rPr lang="en-US" altLang="zh-CN" dirty="0"/>
              <a:t>b </a:t>
            </a:r>
            <a:r>
              <a:rPr lang="zh-CN" altLang="en-US" dirty="0"/>
              <a:t>的时侯，</a:t>
            </a:r>
            <a:r>
              <a:rPr lang="en-US" altLang="zh-CN" dirty="0"/>
              <a:t>b </a:t>
            </a:r>
            <a:r>
              <a:rPr lang="zh-CN" altLang="en-US" dirty="0"/>
              <a:t>会重写 </a:t>
            </a:r>
            <a:r>
              <a:rPr lang="en-US" altLang="zh-CN" dirty="0"/>
              <a:t>ra </a:t>
            </a:r>
            <a:r>
              <a:rPr lang="zh-CN" altLang="en-US" dirty="0"/>
              <a:t>寄存器，存放 </a:t>
            </a:r>
            <a:r>
              <a:rPr lang="en-US" altLang="zh-CN" dirty="0"/>
              <a:t>a </a:t>
            </a:r>
            <a:r>
              <a:rPr lang="zh-CN" altLang="en-US" dirty="0"/>
              <a:t>的地址用作返回。</a:t>
            </a:r>
          </a:p>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F471F-4817-5BB5-4D03-25D8CFF511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A2878D-3A1E-A636-B6D1-80AF81F885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1C1DE6F-E0E0-5B2D-77C4-FAE43F2F379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9DDAEE-8377-A723-10B4-93E98927735B}"/>
              </a:ext>
            </a:extLst>
          </p:cNvPr>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extLst>
      <p:ext uri="{BB962C8B-B14F-4D97-AF65-F5344CB8AC3E}">
        <p14:creationId xmlns:p14="http://schemas.microsoft.com/office/powerpoint/2010/main" val="39066403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t>45</a:t>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t>45</a:t>
            </a:fld>
            <a:endParaRPr lang="zh-CN" altLang="en-US">
              <a:sym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zhida.zhihu.com/search?content_id=236715967&amp;content_type=Article&amp;match_order=1&amp;q=%E5%86%85%E6%A0%B8%E5%87%BD%E6%95%B0&amp;zhida_source=entity"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hyperlink" Target="https://zhida.zhihu.com/search?content_id=236715967&amp;content_type=Article&amp;match_order=1&amp;q=%E5%87%BD%E6%95%B0%E8%B0%83%E7%94%A8%E9%93%BE&amp;zhida_source=entity"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1" y="1869090"/>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实验</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3 </a:t>
            </a:r>
          </a:p>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Traps and Lazy Page allocation</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ph type="ctrTitle" idx="4294967295"/>
          </p:nvPr>
        </p:nvSpPr>
        <p:spPr>
          <a:xfrm>
            <a:off x="807085" y="0"/>
            <a:ext cx="3253105" cy="933450"/>
          </a:xfrm>
        </p:spPr>
        <p:txBody>
          <a:bodyPr anchor="ctr" anchorCtr="1"/>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p>
        </p:txBody>
      </p:sp>
      <p:graphicFrame>
        <p:nvGraphicFramePr>
          <p:cNvPr id="4" name="Group 8"/>
          <p:cNvGraphicFramePr>
            <a:graphicFrameLocks noGrp="1"/>
          </p:cNvGraphicFramePr>
          <p:nvPr>
            <p:extLst>
              <p:ext uri="{D42A27DB-BD31-4B8C-83A1-F6EECF244321}">
                <p14:modId xmlns:p14="http://schemas.microsoft.com/office/powerpoint/2010/main" val="2206824191"/>
              </p:ext>
            </p:extLst>
          </p:nvPr>
        </p:nvGraphicFramePr>
        <p:xfrm>
          <a:off x="2586036" y="4851018"/>
          <a:ext cx="7019925" cy="1704975"/>
        </p:xfrm>
        <a:graphic>
          <a:graphicData uri="http://schemas.openxmlformats.org/drawingml/2006/table">
            <a:tbl>
              <a:tblPr/>
              <a:tblGrid>
                <a:gridCol w="7019925">
                  <a:extLst>
                    <a:ext uri="{9D8B030D-6E8A-4147-A177-3AD203B41FA5}">
                      <a16:colId xmlns:a16="http://schemas.microsoft.com/office/drawing/2014/main" val="20000"/>
                    </a:ext>
                  </a:extLst>
                </a:gridCol>
              </a:tblGrid>
              <a:tr h="1704975">
                <a:tc>
                  <a:txBody>
                    <a:bodyPr/>
                    <a:lstStyle>
                      <a:lvl1pPr latinLnBrk="1">
                        <a:lnSpc>
                          <a:spcPct val="110000"/>
                        </a:lnSpc>
                        <a:spcBef>
                          <a:spcPct val="20000"/>
                        </a:spcBef>
                        <a:buClr>
                          <a:srgbClr val="8AC6CD"/>
                        </a:buClr>
                        <a:buSzPct val="120000"/>
                        <a:defRPr sz="2400">
                          <a:solidFill>
                            <a:srgbClr val="000000"/>
                          </a:solidFill>
                          <a:latin typeface="微软雅黑" panose="020B0503020204020204" pitchFamily="34" charset="-122"/>
                          <a:ea typeface="微软雅黑" panose="020B0503020204020204" pitchFamily="34" charset="-122"/>
                        </a:defRPr>
                      </a:lvl1pPr>
                      <a:lvl2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2pPr>
                      <a:lvl3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3pPr>
                      <a:lvl4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4pPr>
                      <a:lvl5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5pPr>
                      <a:lvl6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6pPr>
                      <a:lvl7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7pPr>
                      <a:lvl8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8pPr>
                      <a:lvl9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rPr>
                        <a:t>2025.11.17</a:t>
                      </a:r>
                    </a:p>
                  </a:txBody>
                  <a:tcPr marL="91459" marR="91459" marT="45664" marB="45664"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61962" y="838200"/>
            <a:ext cx="11268075" cy="6019800"/>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陷阱的基本概念</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RISC-V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寄存器</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RISC-V </a:t>
            </a: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函数栈结构</a:t>
            </a:r>
            <a:endParaRPr lang="en-US" altLang="zh-CN"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RISC-V 汇编 </a:t>
            </a: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Backtrace回溯</a:t>
            </a:r>
          </a:p>
          <a:p>
            <a:pPr marL="1371600" lvl="1" indent="-457200">
              <a:lnSpc>
                <a:spcPct val="150000"/>
              </a:lnSpc>
              <a:spcBef>
                <a:spcPts val="500"/>
              </a:spcBef>
              <a:buFont typeface="Wingdings" panose="05000000000000000000" pitchFamily="2" charset="2"/>
              <a:buChar char="q"/>
            </a:pPr>
            <a:r>
              <a:rPr lang="zh-CN" altLang="en-US"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Alarm警报</a:t>
            </a:r>
          </a:p>
        </p:txBody>
      </p:sp>
      <p:sp>
        <p:nvSpPr>
          <p:cNvPr id="3" name="标题 2"/>
          <p:cNvSpPr>
            <a:spLocks noGrp="1"/>
          </p:cNvSpPr>
          <p:nvPr>
            <p:ph type="title"/>
          </p:nvPr>
        </p:nvSpPr>
        <p:spPr/>
        <p:txBody>
          <a:bodyPr anchor="ctr"/>
          <a:lstStyle/>
          <a:p>
            <a:r>
              <a:rPr lang="zh-CN" altLang="en-US">
                <a:solidFill>
                  <a:srgbClr val="002060"/>
                </a:solidFill>
              </a:rPr>
              <a:t>实验一：</a:t>
            </a:r>
            <a:r>
              <a:rPr lang="en-US" altLang="zh-CN">
                <a:solidFill>
                  <a:srgbClr val="002060"/>
                </a:solidFill>
              </a:rPr>
              <a:t>Traps</a:t>
            </a:r>
            <a:r>
              <a:rPr lang="zh-CN" altLang="en-US">
                <a:solidFill>
                  <a:srgbClr val="002060"/>
                </a:solidFill>
              </a:rPr>
              <a:t>（陷阱）</a:t>
            </a:r>
            <a:endParaRPr lang="zh-CN" altLang="en-US" dirty="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143C-69DE-B5CC-04A2-6EC328C7B1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9C7AFF9-353C-2AEE-F0FF-FA1873AAF6FC}"/>
              </a:ext>
            </a:extLst>
          </p:cNvPr>
          <p:cNvSpPr>
            <a:spLocks noGrp="1"/>
          </p:cNvSpPr>
          <p:nvPr>
            <p:ph type="title"/>
          </p:nvPr>
        </p:nvSpPr>
        <p:spPr/>
        <p:txBody>
          <a:bodyPr/>
          <a:lstStyle/>
          <a:p>
            <a:r>
              <a:rPr lang="zh-CN" altLang="en-US" dirty="0"/>
              <a:t>陷阱的基本概念</a:t>
            </a:r>
          </a:p>
        </p:txBody>
      </p:sp>
      <p:sp>
        <p:nvSpPr>
          <p:cNvPr id="3" name="内容占位符 2">
            <a:extLst>
              <a:ext uri="{FF2B5EF4-FFF2-40B4-BE49-F238E27FC236}">
                <a16:creationId xmlns:a16="http://schemas.microsoft.com/office/drawing/2014/main" id="{3EA5233F-04DC-C54D-5EBE-130515C16E07}"/>
              </a:ext>
            </a:extLst>
          </p:cNvPr>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计算机运行模式分为用户态（</a:t>
            </a:r>
            <a:r>
              <a:rPr kumimoji="1" lang="en-US" altLang="zh-CN" sz="2400" b="1" dirty="0">
                <a:solidFill>
                  <a:srgbClr val="990000"/>
                </a:solidFill>
                <a:latin typeface="微软雅黑" panose="020B0503020204020204" pitchFamily="34" charset="-122"/>
                <a:ea typeface="微软雅黑" panose="020B0503020204020204" pitchFamily="34" charset="-122"/>
              </a:rPr>
              <a:t>user</a:t>
            </a:r>
            <a:r>
              <a:rPr kumimoji="1" lang="zh-CN" altLang="en-US" sz="2400" b="1" dirty="0">
                <a:solidFill>
                  <a:srgbClr val="990000"/>
                </a:solidFill>
                <a:latin typeface="微软雅黑" panose="020B0503020204020204" pitchFamily="34" charset="-122"/>
                <a:ea typeface="微软雅黑" panose="020B0503020204020204" pitchFamily="34" charset="-122"/>
              </a:rPr>
              <a:t>）和内核态（</a:t>
            </a:r>
            <a:r>
              <a:rPr kumimoji="1" lang="en-US" altLang="zh-CN" sz="2400" b="1" dirty="0">
                <a:solidFill>
                  <a:srgbClr val="990000"/>
                </a:solidFill>
                <a:latin typeface="微软雅黑" panose="020B0503020204020204" pitchFamily="34" charset="-122"/>
                <a:ea typeface="微软雅黑" panose="020B0503020204020204" pitchFamily="34" charset="-122"/>
              </a:rPr>
              <a:t>kernel</a:t>
            </a:r>
            <a:r>
              <a:rPr kumimoji="1" lang="zh-CN" altLang="en-US" sz="2400" b="1" dirty="0">
                <a:solidFill>
                  <a:srgbClr val="990000"/>
                </a:solidFill>
                <a:latin typeface="微软雅黑" panose="020B0503020204020204" pitchFamily="34" charset="-122"/>
                <a:ea typeface="微软雅黑" panose="020B0503020204020204" pitchFamily="34" charset="-122"/>
              </a:rPr>
              <a:t>）</a:t>
            </a:r>
            <a:endParaRPr lang="en-US" altLang="zh-CN" sz="1800" dirty="0">
              <a:solidFill>
                <a:schemeClr val="tx1"/>
              </a:solidFill>
            </a:endParaRPr>
          </a:p>
          <a:p>
            <a:pPr latinLnBrk="0">
              <a:buNone/>
            </a:pPr>
            <a:r>
              <a:rPr lang="en-US" altLang="zh-CN" sz="1800" dirty="0">
                <a:solidFill>
                  <a:schemeClr val="tx1"/>
                </a:solidFill>
              </a:rPr>
              <a:t>       </a:t>
            </a:r>
            <a:r>
              <a:rPr lang="zh-CN" altLang="en-US" sz="1800" dirty="0">
                <a:solidFill>
                  <a:schemeClr val="tx1"/>
                </a:solidFill>
              </a:rPr>
              <a:t>用户空间包含应用程序的代码和数据， 内核空间包含操作系统的核心代码和数据。</a:t>
            </a:r>
            <a:endParaRPr lang="en-US" altLang="zh-CN" sz="1800" dirty="0">
              <a:solidFill>
                <a:schemeClr val="tx1"/>
              </a:solidFill>
            </a:endParaRPr>
          </a:p>
          <a:p>
            <a:pPr latinLnBrk="0">
              <a:buNone/>
            </a:pPr>
            <a:r>
              <a:rPr lang="zh-CN" altLang="en-US" sz="1800" dirty="0">
                <a:solidFill>
                  <a:schemeClr val="tx1"/>
                </a:solidFill>
              </a:rPr>
              <a:t> 操作系统在内核态模式中运行，可以执行所有指令，并调用所有硬件资源；</a:t>
            </a:r>
            <a:endParaRPr lang="en-US" altLang="zh-CN" sz="1800" dirty="0">
              <a:solidFill>
                <a:schemeClr val="tx1"/>
              </a:solidFill>
            </a:endParaRPr>
          </a:p>
          <a:p>
            <a:pPr latinLnBrk="0">
              <a:buNone/>
            </a:pPr>
            <a:r>
              <a:rPr lang="zh-CN" altLang="en-US" sz="1800" dirty="0">
                <a:solidFill>
                  <a:schemeClr val="tx1"/>
                </a:solidFill>
              </a:rPr>
              <a:t>用户程序在用户态模式中运行，只能使用有限的指令，无法直接访问硬件。</a:t>
            </a:r>
            <a:endParaRPr lang="en-US" altLang="zh-CN" sz="1800" dirty="0">
              <a:solidFill>
                <a:schemeClr val="tx1"/>
              </a:solidFill>
            </a:endParaRPr>
          </a:p>
          <a:p>
            <a:pPr latinLnBrk="0">
              <a:buNone/>
            </a:pPr>
            <a:r>
              <a:rPr lang="zh-CN" altLang="en-US" sz="1800" dirty="0">
                <a:solidFill>
                  <a:schemeClr val="tx1"/>
                </a:solidFill>
              </a:rPr>
              <a:t> 有三种事件会导致</a:t>
            </a:r>
            <a:r>
              <a:rPr lang="en-US" altLang="zh-CN" sz="1800" dirty="0">
                <a:solidFill>
                  <a:schemeClr val="tx1"/>
                </a:solidFill>
              </a:rPr>
              <a:t>CPU</a:t>
            </a:r>
            <a:r>
              <a:rPr lang="zh-CN" altLang="en-US" sz="1800" dirty="0">
                <a:solidFill>
                  <a:schemeClr val="tx1"/>
                </a:solidFill>
              </a:rPr>
              <a:t>搁置指令的执行，强制将控制权转移到处理该事件的特殊位置上，执行陷入机制 陷入内核态：</a:t>
            </a:r>
            <a:endParaRPr lang="en-US" altLang="zh-CN" sz="1800" dirty="0">
              <a:solidFill>
                <a:schemeClr val="tx1"/>
              </a:solidFill>
            </a:endParaRPr>
          </a:p>
          <a:p>
            <a:pPr marL="1200150" lvl="1" latinLnBrk="0">
              <a:buFont typeface="Wingdings" panose="05000000000000000000" pitchFamily="2" charset="2"/>
              <a:buChar char="l"/>
            </a:pPr>
            <a:r>
              <a:rPr lang="zh-CN" altLang="en-US" sz="1400" b="1" dirty="0">
                <a:solidFill>
                  <a:schemeClr val="tx1"/>
                </a:solidFill>
                <a:latin typeface="+mn-ea"/>
                <a:ea typeface="+mn-ea"/>
              </a:rPr>
              <a:t>系统调用（用户态需要系统调用函数时）</a:t>
            </a:r>
            <a:endParaRPr lang="en-US" altLang="zh-CN" sz="1400" b="1" dirty="0">
              <a:solidFill>
                <a:schemeClr val="tx1"/>
              </a:solidFill>
              <a:latin typeface="+mn-ea"/>
              <a:ea typeface="+mn-ea"/>
            </a:endParaRPr>
          </a:p>
          <a:p>
            <a:pPr marL="1200150" lvl="1" latinLnBrk="0">
              <a:buFont typeface="Wingdings" panose="05000000000000000000" pitchFamily="2" charset="2"/>
              <a:buChar char="l"/>
            </a:pPr>
            <a:r>
              <a:rPr lang="zh-CN" altLang="en-US" sz="1400" b="1" dirty="0">
                <a:solidFill>
                  <a:schemeClr val="tx1"/>
                </a:solidFill>
                <a:latin typeface="+mn-ea"/>
                <a:ea typeface="+mn-ea"/>
              </a:rPr>
              <a:t>异常（系统执行异常，如除以</a:t>
            </a:r>
            <a:r>
              <a:rPr lang="en-US" altLang="zh-CN" sz="1400" b="1" dirty="0">
                <a:solidFill>
                  <a:schemeClr val="tx1"/>
                </a:solidFill>
                <a:latin typeface="+mn-ea"/>
                <a:ea typeface="+mn-ea"/>
              </a:rPr>
              <a:t>0</a:t>
            </a:r>
            <a:r>
              <a:rPr lang="zh-CN" altLang="en-US" sz="1400" b="1" dirty="0">
                <a:solidFill>
                  <a:schemeClr val="tx1"/>
                </a:solidFill>
                <a:latin typeface="+mn-ea"/>
                <a:ea typeface="+mn-ea"/>
              </a:rPr>
              <a:t>、</a:t>
            </a:r>
            <a:r>
              <a:rPr lang="en-US" altLang="zh-CN" sz="1400" b="1" dirty="0">
                <a:solidFill>
                  <a:schemeClr val="tx1"/>
                </a:solidFill>
                <a:latin typeface="+mn-ea"/>
                <a:ea typeface="+mn-ea"/>
              </a:rPr>
              <a:t>page fault</a:t>
            </a:r>
            <a:r>
              <a:rPr lang="zh-CN" altLang="en-US" sz="1400" b="1" dirty="0">
                <a:solidFill>
                  <a:schemeClr val="tx1"/>
                </a:solidFill>
                <a:latin typeface="+mn-ea"/>
                <a:ea typeface="+mn-ea"/>
              </a:rPr>
              <a:t>）</a:t>
            </a:r>
            <a:endParaRPr lang="en-US" altLang="zh-CN" sz="1400" b="1" dirty="0">
              <a:solidFill>
                <a:schemeClr val="tx1"/>
              </a:solidFill>
              <a:latin typeface="+mn-ea"/>
              <a:ea typeface="+mn-ea"/>
            </a:endParaRPr>
          </a:p>
          <a:p>
            <a:pPr marL="1200150" lvl="1" latinLnBrk="0">
              <a:buFont typeface="Wingdings" panose="05000000000000000000" pitchFamily="2" charset="2"/>
              <a:buChar char="l"/>
            </a:pPr>
            <a:r>
              <a:rPr lang="zh-CN" altLang="en-US" sz="1400" b="1" dirty="0">
                <a:solidFill>
                  <a:schemeClr val="tx1"/>
                </a:solidFill>
                <a:latin typeface="+mn-ea"/>
                <a:ea typeface="+mn-ea"/>
              </a:rPr>
              <a:t>中断（设备中断）</a:t>
            </a:r>
          </a:p>
          <a:p>
            <a:pPr marL="0" lvl="1" indent="0" latinLnBrk="0">
              <a:buNone/>
            </a:pPr>
            <a:r>
              <a:rPr lang="en-US" altLang="zh-CN" sz="1800" dirty="0">
                <a:solidFill>
                  <a:schemeClr val="tx1"/>
                </a:solidFill>
                <a:latin typeface="+mn-lt"/>
                <a:ea typeface="+mn-ea"/>
              </a:rPr>
              <a:t>       xv6</a:t>
            </a:r>
            <a:r>
              <a:rPr lang="zh-CN" altLang="en-US" sz="1800" dirty="0">
                <a:solidFill>
                  <a:schemeClr val="tx1"/>
                </a:solidFill>
                <a:latin typeface="+mn-lt"/>
                <a:ea typeface="+mn-ea"/>
              </a:rPr>
              <a:t>中使用</a:t>
            </a:r>
            <a:r>
              <a:rPr lang="en-US" altLang="zh-CN" sz="1800" dirty="0">
                <a:solidFill>
                  <a:schemeClr val="tx1"/>
                </a:solidFill>
                <a:latin typeface="+mn-lt"/>
                <a:ea typeface="+mn-ea"/>
              </a:rPr>
              <a:t>trap</a:t>
            </a:r>
            <a:r>
              <a:rPr lang="zh-CN" altLang="en-US" sz="1800" dirty="0">
                <a:solidFill>
                  <a:schemeClr val="tx1"/>
                </a:solidFill>
                <a:latin typeface="+mn-lt"/>
                <a:ea typeface="+mn-ea"/>
              </a:rPr>
              <a:t>作为上述情况的通用术语，</a:t>
            </a:r>
            <a:r>
              <a:rPr lang="en-US" altLang="zh-CN" sz="1800" dirty="0">
                <a:solidFill>
                  <a:schemeClr val="tx1"/>
                </a:solidFill>
                <a:latin typeface="+mn-lt"/>
                <a:ea typeface="+mn-ea"/>
              </a:rPr>
              <a:t>traps</a:t>
            </a:r>
            <a:r>
              <a:rPr lang="zh-CN" altLang="en-US" sz="1800" dirty="0">
                <a:solidFill>
                  <a:schemeClr val="tx1"/>
                </a:solidFill>
                <a:latin typeface="+mn-lt"/>
                <a:ea typeface="+mn-ea"/>
              </a:rPr>
              <a:t>也称为中断陷阱，是一种特殊的中断，在系统调用和中断处理中具有关键作用，当用户程序执行流到特定指令时主动触发，帮助执行流程从用户态陷入内核态，将控制权转移给操作系统，使得用户可以调用硬件，访问所有指令以获得操作系统提供的服务，完成服务后回到用户态继续执行，可以用于应对诸如系统调用</a:t>
            </a:r>
            <a:r>
              <a:rPr lang="en-US" altLang="zh-CN" sz="1800" dirty="0">
                <a:solidFill>
                  <a:schemeClr val="tx1"/>
                </a:solidFill>
                <a:latin typeface="+mn-lt"/>
                <a:ea typeface="+mn-ea"/>
              </a:rPr>
              <a:t>, </a:t>
            </a:r>
            <a:r>
              <a:rPr lang="zh-CN" altLang="en-US" sz="1800" dirty="0">
                <a:solidFill>
                  <a:schemeClr val="tx1"/>
                </a:solidFill>
                <a:latin typeface="+mn-lt"/>
                <a:ea typeface="+mn-ea"/>
              </a:rPr>
              <a:t>虚拟内存页缺失</a:t>
            </a:r>
            <a:r>
              <a:rPr lang="en-US" altLang="zh-CN" sz="1800" dirty="0">
                <a:solidFill>
                  <a:schemeClr val="tx1"/>
                </a:solidFill>
                <a:latin typeface="+mn-lt"/>
                <a:ea typeface="+mn-ea"/>
              </a:rPr>
              <a:t>, </a:t>
            </a:r>
            <a:r>
              <a:rPr lang="zh-CN" altLang="en-US" sz="1800" dirty="0">
                <a:solidFill>
                  <a:schemeClr val="tx1"/>
                </a:solidFill>
                <a:latin typeface="+mn-lt"/>
                <a:ea typeface="+mn-ea"/>
              </a:rPr>
              <a:t>硬件信号等等功能。</a:t>
            </a:r>
          </a:p>
        </p:txBody>
      </p:sp>
    </p:spTree>
    <p:extLst>
      <p:ext uri="{BB962C8B-B14F-4D97-AF65-F5344CB8AC3E}">
        <p14:creationId xmlns:p14="http://schemas.microsoft.com/office/powerpoint/2010/main" val="3724958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实验要求</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3361" y="1646238"/>
            <a:ext cx="8010525" cy="220027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454023" y="4284826"/>
            <a:ext cx="10983791" cy="1200329"/>
          </a:xfrm>
          <a:prstGeom prst="rect">
            <a:avLst/>
          </a:prstGeom>
          <a:noFill/>
        </p:spPr>
        <p:txBody>
          <a:bodyPr wrap="square">
            <a:spAutoFit/>
          </a:bodyPr>
          <a:lstStyle/>
          <a:p>
            <a:r>
              <a:rPr lang="zh-CN" altLang="en-US" dirty="0"/>
              <a:t>当发生系统调用时，用户态的程序发起系统调用。因为系统调用中牵扯特权指令，用户态程序权限不足，因此会中断执行，也就是 </a:t>
            </a:r>
            <a:r>
              <a:rPr lang="en-US" altLang="zh-CN" dirty="0"/>
              <a:t>Trap</a:t>
            </a:r>
            <a:r>
              <a:rPr lang="zh-CN" altLang="en-US" dirty="0"/>
              <a:t>（</a:t>
            </a:r>
            <a:r>
              <a:rPr lang="en-US" altLang="zh-CN" dirty="0"/>
              <a:t>Trap </a:t>
            </a:r>
            <a:r>
              <a:rPr lang="zh-CN" altLang="en-US" dirty="0"/>
              <a:t>是一种中断）。发生中断后，当前 </a:t>
            </a:r>
            <a:r>
              <a:rPr lang="en-US" altLang="zh-CN" dirty="0"/>
              <a:t>CPU </a:t>
            </a:r>
            <a:r>
              <a:rPr lang="zh-CN" altLang="en-US" dirty="0"/>
              <a:t>执行的程序会中断，跳转到中断处理程序。内核程序开始执行，也就是开始处理系统调用。内核处理完成后，主动触发 </a:t>
            </a:r>
            <a:r>
              <a:rPr lang="en-US" altLang="zh-CN" dirty="0"/>
              <a:t>Trap</a:t>
            </a:r>
            <a:r>
              <a:rPr lang="zh-CN" altLang="en-US" dirty="0"/>
              <a:t>，这样会再次发生中断，切换回用户态工作。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寄存器</a:t>
            </a:r>
          </a:p>
        </p:txBody>
      </p:sp>
      <p:sp>
        <p:nvSpPr>
          <p:cNvPr id="6" name="文本框 5"/>
          <p:cNvSpPr txBox="1"/>
          <p:nvPr/>
        </p:nvSpPr>
        <p:spPr>
          <a:xfrm>
            <a:off x="6343038" y="3068050"/>
            <a:ext cx="5737593" cy="2308324"/>
          </a:xfrm>
          <a:prstGeom prst="rect">
            <a:avLst/>
          </a:prstGeom>
          <a:noFill/>
        </p:spPr>
        <p:txBody>
          <a:bodyPr wrap="square">
            <a:spAutoFit/>
          </a:bodyPr>
          <a:lstStyle/>
          <a:p>
            <a:r>
              <a:rPr lang="zh-CN" altLang="en-US" dirty="0"/>
              <a:t>寄存器名字：</a:t>
            </a:r>
            <a:endParaRPr lang="en-US" altLang="zh-CN" dirty="0"/>
          </a:p>
          <a:p>
            <a:r>
              <a:rPr lang="zh-CN" altLang="en-US" dirty="0"/>
              <a:t>并不是很重要，它唯一重要的场景是在 </a:t>
            </a:r>
            <a:r>
              <a:rPr lang="en-US" altLang="zh-CN" dirty="0"/>
              <a:t>RISC-V </a:t>
            </a:r>
            <a:r>
              <a:rPr lang="zh-CN" altLang="en-US" dirty="0"/>
              <a:t>的 </a:t>
            </a:r>
            <a:r>
              <a:rPr lang="en-US" altLang="zh-CN" dirty="0"/>
              <a:t>Compressed Instruction </a:t>
            </a:r>
            <a:r>
              <a:rPr lang="zh-CN" altLang="en-US" dirty="0"/>
              <a:t>中。</a:t>
            </a:r>
            <a:endParaRPr lang="en-US" altLang="zh-CN" dirty="0"/>
          </a:p>
          <a:p>
            <a:endParaRPr lang="en-US" altLang="zh-CN" dirty="0"/>
          </a:p>
          <a:p>
            <a:r>
              <a:rPr lang="en-US" altLang="zh-CN" dirty="0"/>
              <a:t>ABI </a:t>
            </a:r>
            <a:r>
              <a:rPr lang="zh-CN" altLang="en-US" dirty="0"/>
              <a:t>名字：</a:t>
            </a:r>
            <a:endParaRPr lang="en-US" altLang="zh-CN" dirty="0"/>
          </a:p>
          <a:p>
            <a:r>
              <a:rPr lang="zh-CN" altLang="en-US" dirty="0"/>
              <a:t>不仅是因为这样描述更清晰和标准，同时也因为在写汇编代码的时候使用的也是</a:t>
            </a:r>
            <a:r>
              <a:rPr lang="en-US" altLang="zh-CN" dirty="0"/>
              <a:t>ABI</a:t>
            </a:r>
            <a:r>
              <a:rPr lang="zh-CN" altLang="en-US" dirty="0"/>
              <a:t>名字。</a:t>
            </a:r>
            <a:endParaRPr lang="en-US" altLang="zh-CN" dirty="0"/>
          </a:p>
          <a:p>
            <a:endParaRPr lang="en-US" altLang="zh-CN" dirty="0"/>
          </a:p>
        </p:txBody>
      </p:sp>
      <p:pic>
        <p:nvPicPr>
          <p:cNvPr id="11" name="图片 10"/>
          <p:cNvPicPr>
            <a:picLocks noChangeAspect="1"/>
          </p:cNvPicPr>
          <p:nvPr/>
        </p:nvPicPr>
        <p:blipFill rotWithShape="1">
          <a:blip r:embed="rId3"/>
          <a:srcRect l="12520" r="12428"/>
          <a:stretch>
            <a:fillRect/>
          </a:stretch>
        </p:blipFill>
        <p:spPr>
          <a:xfrm>
            <a:off x="0" y="1471677"/>
            <a:ext cx="6163408" cy="4145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函数栈结构</a:t>
            </a:r>
          </a:p>
        </p:txBody>
      </p:sp>
      <p:pic>
        <p:nvPicPr>
          <p:cNvPr id="7" name="图片 6"/>
          <p:cNvPicPr>
            <a:picLocks noChangeAspect="1"/>
          </p:cNvPicPr>
          <p:nvPr/>
        </p:nvPicPr>
        <p:blipFill rotWithShape="1">
          <a:blip r:embed="rId2"/>
          <a:srcRect b="1318"/>
          <a:stretch>
            <a:fillRect/>
          </a:stretch>
        </p:blipFill>
        <p:spPr>
          <a:xfrm>
            <a:off x="620961" y="1696422"/>
            <a:ext cx="2370328" cy="3869434"/>
          </a:xfrm>
          <a:prstGeom prst="rect">
            <a:avLst/>
          </a:prstGeom>
        </p:spPr>
      </p:pic>
      <p:sp>
        <p:nvSpPr>
          <p:cNvPr id="8" name="文本框 7"/>
          <p:cNvSpPr txBox="1"/>
          <p:nvPr/>
        </p:nvSpPr>
        <p:spPr>
          <a:xfrm>
            <a:off x="3556000" y="1111396"/>
            <a:ext cx="8203223" cy="4801314"/>
          </a:xfrm>
          <a:prstGeom prst="rect">
            <a:avLst/>
          </a:prstGeom>
          <a:noFill/>
        </p:spPr>
        <p:txBody>
          <a:bodyPr wrap="square">
            <a:spAutoFit/>
          </a:bodyPr>
          <a:lstStyle/>
          <a:p>
            <a:r>
              <a:rPr lang="zh-CN" altLang="en-US" dirty="0"/>
              <a:t>栈（</a:t>
            </a:r>
            <a:r>
              <a:rPr lang="en-US" altLang="zh-CN" dirty="0"/>
              <a:t>Stack</a:t>
            </a:r>
            <a:r>
              <a:rPr lang="zh-CN" altLang="en-US" dirty="0"/>
              <a:t>）</a:t>
            </a:r>
          </a:p>
          <a:p>
            <a:r>
              <a:rPr lang="zh-CN" altLang="en-US" dirty="0"/>
              <a:t>栈是一种先进后出的数据结构，用于存储程序运行时临时创建的数据，包括函数调用过程中的局部变量、参数和返回地址等信息。</a:t>
            </a:r>
          </a:p>
          <a:p>
            <a:endParaRPr lang="en-US" altLang="zh-CN" dirty="0"/>
          </a:p>
          <a:p>
            <a:r>
              <a:rPr lang="zh-CN" altLang="en-US" dirty="0"/>
              <a:t>栈帧（</a:t>
            </a:r>
            <a:r>
              <a:rPr lang="en-US" altLang="zh-CN" dirty="0"/>
              <a:t>Stack Frame</a:t>
            </a:r>
            <a:r>
              <a:rPr lang="zh-CN" altLang="en-US" dirty="0"/>
              <a:t>）</a:t>
            </a:r>
          </a:p>
          <a:p>
            <a:r>
              <a:rPr lang="zh-CN" altLang="en-US" dirty="0"/>
              <a:t>每当一个函数被调用时，都会在栈上分配一个新的区域，这个区域称为栈帧。栈帧包含了该函数的局部变量、传递给函数的参数以及一个返回地址等，这个返回地址指向函数执行完成后应该继续执行的指令位置。</a:t>
            </a:r>
          </a:p>
          <a:p>
            <a:endParaRPr lang="en-US" altLang="zh-CN" dirty="0"/>
          </a:p>
          <a:p>
            <a:r>
              <a:rPr lang="zh-CN" altLang="en-US" dirty="0"/>
              <a:t>函数调用和返回</a:t>
            </a:r>
            <a:endParaRPr lang="en-US" altLang="zh-CN" dirty="0"/>
          </a:p>
          <a:p>
            <a:pPr marL="285750" indent="-285750">
              <a:buFont typeface="Wingdings" panose="05000000000000000000" pitchFamily="2" charset="2"/>
              <a:buChar char="l"/>
            </a:pPr>
            <a:r>
              <a:rPr lang="zh-CN" altLang="en-US" dirty="0"/>
              <a:t>调用：</a:t>
            </a:r>
            <a:endParaRPr lang="en-US" altLang="zh-CN" dirty="0"/>
          </a:p>
          <a:p>
            <a:r>
              <a:rPr lang="zh-CN" altLang="en-US" dirty="0"/>
              <a:t>当函数</a:t>
            </a:r>
            <a:r>
              <a:rPr lang="en-US" altLang="zh-CN" dirty="0"/>
              <a:t>A</a:t>
            </a:r>
            <a:r>
              <a:rPr lang="zh-CN" altLang="en-US" dirty="0"/>
              <a:t>调用函数</a:t>
            </a:r>
            <a:r>
              <a:rPr lang="en-US" altLang="zh-CN" dirty="0"/>
              <a:t>B</a:t>
            </a:r>
            <a:r>
              <a:rPr lang="zh-CN" altLang="en-US" dirty="0"/>
              <a:t>时，函数</a:t>
            </a:r>
            <a:r>
              <a:rPr lang="en-US" altLang="zh-CN" dirty="0"/>
              <a:t>A</a:t>
            </a:r>
            <a:r>
              <a:rPr lang="zh-CN" altLang="en-US" dirty="0"/>
              <a:t>的当前执行位置（即返回地址）和栈指针的状态会被保存起来，然后栈指针移动到新的位置以容纳函数</a:t>
            </a:r>
            <a:r>
              <a:rPr lang="en-US" altLang="zh-CN" dirty="0"/>
              <a:t>B</a:t>
            </a:r>
            <a:r>
              <a:rPr lang="zh-CN" altLang="en-US" dirty="0"/>
              <a:t>的栈帧，函数</a:t>
            </a:r>
            <a:r>
              <a:rPr lang="en-US" altLang="zh-CN" dirty="0"/>
              <a:t>B</a:t>
            </a:r>
            <a:r>
              <a:rPr lang="zh-CN" altLang="en-US" dirty="0"/>
              <a:t>开始执行。</a:t>
            </a:r>
            <a:endParaRPr lang="en-US" altLang="zh-CN" dirty="0"/>
          </a:p>
          <a:p>
            <a:endParaRPr lang="en-US" altLang="zh-CN" dirty="0"/>
          </a:p>
          <a:p>
            <a:pPr marL="285750" indent="-285750">
              <a:buFont typeface="Wingdings" panose="05000000000000000000" pitchFamily="2" charset="2"/>
              <a:buChar char="l"/>
            </a:pPr>
            <a:r>
              <a:rPr lang="zh-CN" altLang="en-US" dirty="0"/>
              <a:t>返回：</a:t>
            </a:r>
            <a:endParaRPr lang="en-US" altLang="zh-CN" dirty="0"/>
          </a:p>
          <a:p>
            <a:r>
              <a:rPr lang="zh-CN" altLang="en-US" dirty="0"/>
              <a:t>当函数</a:t>
            </a:r>
            <a:r>
              <a:rPr lang="en-US" altLang="zh-CN" dirty="0"/>
              <a:t>B</a:t>
            </a:r>
            <a:r>
              <a:rPr lang="zh-CN" altLang="en-US" dirty="0"/>
              <a:t>执行完毕后，它会从自己的栈帧中读取返回地址，并将栈指针移回函数</a:t>
            </a:r>
            <a:r>
              <a:rPr lang="en-US" altLang="zh-CN" dirty="0"/>
              <a:t>A</a:t>
            </a:r>
            <a:r>
              <a:rPr lang="zh-CN" altLang="en-US" dirty="0"/>
              <a:t>的栈帧。然后，程序通过跳转到这个返回地址继续执行函数</a:t>
            </a:r>
            <a:r>
              <a:rPr lang="en-US" altLang="zh-CN" dirty="0"/>
              <a:t>A</a:t>
            </a:r>
            <a:r>
              <a:rPr lang="zh-CN" alt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RISC-V </a:t>
            </a:r>
            <a:r>
              <a:rPr lang="zh-CN" altLang="en-US"/>
              <a:t>函数栈结构</a:t>
            </a:r>
          </a:p>
        </p:txBody>
      </p:sp>
      <p:pic>
        <p:nvPicPr>
          <p:cNvPr id="7" name="图片 6"/>
          <p:cNvPicPr>
            <a:picLocks noChangeAspect="1"/>
          </p:cNvPicPr>
          <p:nvPr/>
        </p:nvPicPr>
        <p:blipFill rotWithShape="1">
          <a:blip r:embed="rId2"/>
          <a:srcRect b="1318"/>
          <a:stretch>
            <a:fillRect/>
          </a:stretch>
        </p:blipFill>
        <p:spPr>
          <a:xfrm>
            <a:off x="319658" y="1312334"/>
            <a:ext cx="3170889" cy="5176308"/>
          </a:xfrm>
          <a:prstGeom prst="rect">
            <a:avLst/>
          </a:prstGeom>
        </p:spPr>
      </p:pic>
      <p:sp>
        <p:nvSpPr>
          <p:cNvPr id="8" name="文本框 7"/>
          <p:cNvSpPr txBox="1"/>
          <p:nvPr/>
        </p:nvSpPr>
        <p:spPr>
          <a:xfrm>
            <a:off x="3490547" y="1186276"/>
            <a:ext cx="8203223" cy="5632311"/>
          </a:xfrm>
          <a:prstGeom prst="rect">
            <a:avLst/>
          </a:prstGeom>
          <a:noFill/>
        </p:spPr>
        <p:txBody>
          <a:bodyPr wrap="square">
            <a:spAutoFit/>
          </a:bodyPr>
          <a:lstStyle/>
          <a:p>
            <a:r>
              <a:rPr lang="en-US" altLang="zh-CN" dirty="0"/>
              <a:t>Return Address</a:t>
            </a:r>
            <a:r>
              <a:rPr lang="zh-CN" altLang="en-US" dirty="0"/>
              <a:t>：</a:t>
            </a:r>
            <a:endParaRPr lang="en-US" altLang="zh-CN" dirty="0"/>
          </a:p>
          <a:p>
            <a:r>
              <a:rPr lang="zh-CN" altLang="en-US" dirty="0"/>
              <a:t>存储函数调用返回后应该跳转的地址，表明调用函数之后，程序应该回到哪里继续执行。</a:t>
            </a:r>
          </a:p>
          <a:p>
            <a:r>
              <a:rPr lang="en-US" altLang="zh-CN" dirty="0"/>
              <a:t>To Prev. Frame (</a:t>
            </a:r>
            <a:r>
              <a:rPr lang="en-US" altLang="zh-CN" dirty="0" err="1"/>
              <a:t>fp</a:t>
            </a:r>
            <a:r>
              <a:rPr lang="en-US" altLang="zh-CN" dirty="0"/>
              <a:t>)</a:t>
            </a:r>
            <a:r>
              <a:rPr lang="zh-CN" altLang="en-US" dirty="0"/>
              <a:t>：</a:t>
            </a:r>
            <a:endParaRPr lang="en-US" altLang="zh-CN" dirty="0"/>
          </a:p>
          <a:p>
            <a:r>
              <a:rPr lang="zh-CN" altLang="en-US" dirty="0"/>
              <a:t>指向前一个栈帧的帧指针，用于维护栈的链表结构，函数返回时可以正确地回到调用它的函数。</a:t>
            </a:r>
          </a:p>
          <a:p>
            <a:r>
              <a:rPr lang="en-US" altLang="zh-CN" dirty="0"/>
              <a:t>Saved Registers</a:t>
            </a:r>
            <a:r>
              <a:rPr lang="zh-CN" altLang="en-US" dirty="0"/>
              <a:t>：</a:t>
            </a:r>
            <a:endParaRPr lang="en-US" altLang="zh-CN" dirty="0"/>
          </a:p>
          <a:p>
            <a:r>
              <a:rPr lang="zh-CN" altLang="en-US" dirty="0"/>
              <a:t>保存调用函数时的一些重要寄存器的值，在函数返回时可以恢复这些寄存器的原始值。</a:t>
            </a:r>
          </a:p>
          <a:p>
            <a:r>
              <a:rPr lang="en-US" altLang="zh-CN" dirty="0"/>
              <a:t>Local Variables</a:t>
            </a:r>
            <a:r>
              <a:rPr lang="zh-CN" altLang="en-US" dirty="0"/>
              <a:t>：</a:t>
            </a:r>
            <a:endParaRPr lang="en-US" altLang="zh-CN" dirty="0"/>
          </a:p>
          <a:p>
            <a:r>
              <a:rPr lang="zh-CN" altLang="en-US" dirty="0"/>
              <a:t>存储函数执行过程中所需的局部变量。</a:t>
            </a:r>
          </a:p>
          <a:p>
            <a:r>
              <a:rPr lang="en-US" altLang="zh-CN" dirty="0" err="1"/>
              <a:t>fp</a:t>
            </a:r>
            <a:r>
              <a:rPr lang="zh-CN" altLang="en-US" dirty="0"/>
              <a:t>：</a:t>
            </a:r>
            <a:endParaRPr lang="en-US" altLang="zh-CN" dirty="0"/>
          </a:p>
          <a:p>
            <a:r>
              <a:rPr lang="zh-CN" altLang="en-US" dirty="0"/>
              <a:t>帧指针，指向当前栈帧的起始位置。</a:t>
            </a:r>
          </a:p>
          <a:p>
            <a:r>
              <a:rPr lang="en-US" altLang="zh-CN" dirty="0" err="1"/>
              <a:t>sp</a:t>
            </a:r>
            <a:r>
              <a:rPr lang="zh-CN" altLang="en-US" dirty="0"/>
              <a:t>：</a:t>
            </a:r>
            <a:endParaRPr lang="en-US" altLang="zh-CN" dirty="0"/>
          </a:p>
          <a:p>
            <a:r>
              <a:rPr lang="zh-CN" altLang="en-US" dirty="0"/>
              <a:t>栈指针，当前栈顶的位置。</a:t>
            </a:r>
          </a:p>
          <a:p>
            <a:endParaRPr lang="en-US" altLang="zh-CN" dirty="0"/>
          </a:p>
          <a:p>
            <a:r>
              <a:rPr lang="zh-CN" altLang="en-US" dirty="0"/>
              <a:t>栈是从高地址向低地址增长的，当我们新调用一个函数时，会在当前栈帧的更低地址处分配一个新的栈帧。函数执行完毕后，其栈帧将会被销毁，计数器重新跳转到调用该函数的位置的下一条指令继续执行。这个跳转的位置可以通过读取返回地址来获得，该地址保存在栈帧的某个位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xv6</a:t>
            </a:r>
            <a:r>
              <a:rPr lang="zh-CN" altLang="en-US" sz="2000" dirty="0">
                <a:latin typeface="微软雅黑" panose="020B0503020204020204" pitchFamily="34" charset="-122"/>
                <a:ea typeface="微软雅黑" panose="020B0503020204020204" pitchFamily="34" charset="-122"/>
                <a:cs typeface="+mn-lt"/>
              </a:rPr>
              <a:t>仓库中有一个文件</a:t>
            </a:r>
            <a:r>
              <a:rPr lang="en-US" altLang="zh-CN" sz="2000" dirty="0">
                <a:latin typeface="微软雅黑" panose="020B0503020204020204" pitchFamily="34" charset="-122"/>
                <a:ea typeface="微软雅黑" panose="020B0503020204020204" pitchFamily="34" charset="-122"/>
                <a:cs typeface="+mn-lt"/>
              </a:rPr>
              <a:t>user/</a:t>
            </a:r>
            <a:r>
              <a:rPr lang="en-US" altLang="zh-CN" sz="2000" dirty="0" err="1">
                <a:latin typeface="微软雅黑" panose="020B0503020204020204" pitchFamily="34" charset="-122"/>
                <a:ea typeface="微软雅黑" panose="020B0503020204020204" pitchFamily="34" charset="-122"/>
                <a:cs typeface="+mn-lt"/>
              </a:rPr>
              <a:t>call.c</a:t>
            </a:r>
            <a:r>
              <a:rPr lang="zh-CN" altLang="en-US" sz="2000" dirty="0">
                <a:latin typeface="微软雅黑" panose="020B0503020204020204" pitchFamily="34" charset="-122"/>
                <a:ea typeface="微软雅黑" panose="020B0503020204020204" pitchFamily="34" charset="-122"/>
                <a:cs typeface="+mn-lt"/>
              </a:rPr>
              <a:t>。执行</a:t>
            </a:r>
            <a:r>
              <a:rPr lang="en-US" altLang="zh-CN" sz="2000" dirty="0">
                <a:latin typeface="微软雅黑" panose="020B0503020204020204" pitchFamily="34" charset="-122"/>
                <a:ea typeface="微软雅黑" panose="020B0503020204020204" pitchFamily="34" charset="-122"/>
                <a:cs typeface="+mn-lt"/>
              </a:rPr>
              <a:t>make </a:t>
            </a:r>
            <a:r>
              <a:rPr lang="en-US" altLang="zh-CN" sz="2000" dirty="0" err="1">
                <a:latin typeface="微软雅黑" panose="020B0503020204020204" pitchFamily="34" charset="-122"/>
                <a:ea typeface="微软雅黑" panose="020B0503020204020204" pitchFamily="34" charset="-122"/>
                <a:cs typeface="+mn-lt"/>
              </a:rPr>
              <a:t>fs.img</a:t>
            </a:r>
            <a:r>
              <a:rPr lang="zh-CN" altLang="en-US" sz="2000" dirty="0">
                <a:latin typeface="微软雅黑" panose="020B0503020204020204" pitchFamily="34" charset="-122"/>
                <a:ea typeface="微软雅黑" panose="020B0503020204020204" pitchFamily="34" charset="-122"/>
                <a:cs typeface="+mn-lt"/>
              </a:rPr>
              <a:t>编译它，并在</a:t>
            </a:r>
            <a:r>
              <a:rPr lang="en-US" altLang="zh-CN" sz="2000" dirty="0">
                <a:latin typeface="微软雅黑" panose="020B0503020204020204" pitchFamily="34" charset="-122"/>
                <a:ea typeface="微软雅黑" panose="020B0503020204020204" pitchFamily="34" charset="-122"/>
                <a:cs typeface="+mn-lt"/>
              </a:rPr>
              <a:t>user/call.asm</a:t>
            </a:r>
            <a:r>
              <a:rPr lang="zh-CN" altLang="en-US" sz="2000" dirty="0">
                <a:latin typeface="微软雅黑" panose="020B0503020204020204" pitchFamily="34" charset="-122"/>
                <a:ea typeface="微软雅黑" panose="020B0503020204020204" pitchFamily="34" charset="-122"/>
                <a:cs typeface="+mn-lt"/>
              </a:rPr>
              <a:t>中生成可读的汇编版本。阅读</a:t>
            </a:r>
            <a:r>
              <a:rPr lang="en-US" altLang="zh-CN" sz="2000" dirty="0">
                <a:latin typeface="微软雅黑" panose="020B0503020204020204" pitchFamily="34" charset="-122"/>
                <a:ea typeface="微软雅黑" panose="020B0503020204020204" pitchFamily="34" charset="-122"/>
                <a:cs typeface="+mn-lt"/>
              </a:rPr>
              <a:t>call.asm</a:t>
            </a:r>
            <a:r>
              <a:rPr lang="zh-CN" altLang="en-US" sz="2000" dirty="0">
                <a:latin typeface="微软雅黑" panose="020B0503020204020204" pitchFamily="34" charset="-122"/>
                <a:ea typeface="微软雅黑" panose="020B0503020204020204" pitchFamily="34" charset="-122"/>
                <a:cs typeface="+mn-lt"/>
              </a:rPr>
              <a:t>中函数</a:t>
            </a:r>
            <a:r>
              <a:rPr lang="en-US" altLang="zh-CN" sz="2000" dirty="0">
                <a:latin typeface="微软雅黑" panose="020B0503020204020204" pitchFamily="34" charset="-122"/>
                <a:ea typeface="微软雅黑" panose="020B0503020204020204" pitchFamily="34" charset="-122"/>
                <a:cs typeface="+mn-lt"/>
              </a:rPr>
              <a:t>g</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f</a:t>
            </a:r>
            <a:r>
              <a:rPr lang="zh-CN" altLang="en-US" sz="2000" dirty="0">
                <a:latin typeface="微软雅黑" panose="020B0503020204020204" pitchFamily="34" charset="-122"/>
                <a:ea typeface="微软雅黑" panose="020B0503020204020204" pitchFamily="34" charset="-122"/>
                <a:cs typeface="+mn-lt"/>
              </a:rPr>
              <a:t>和</a:t>
            </a:r>
            <a:r>
              <a:rPr lang="en-US" altLang="zh-CN" sz="2000" dirty="0">
                <a:latin typeface="微软雅黑" panose="020B0503020204020204" pitchFamily="34" charset="-122"/>
                <a:ea typeface="微软雅黑" panose="020B0503020204020204" pitchFamily="34" charset="-122"/>
                <a:cs typeface="+mn-lt"/>
              </a:rPr>
              <a:t>main</a:t>
            </a:r>
            <a:r>
              <a:rPr lang="zh-CN" altLang="en-US" sz="2000" dirty="0">
                <a:latin typeface="微软雅黑" panose="020B0503020204020204" pitchFamily="34" charset="-122"/>
                <a:ea typeface="微软雅黑" panose="020B0503020204020204" pitchFamily="34" charset="-122"/>
                <a:cs typeface="+mn-lt"/>
              </a:rPr>
              <a:t>的代码。回答一些问题（将答案存储在</a:t>
            </a:r>
            <a:r>
              <a:rPr lang="en-US" altLang="zh-CN" sz="2000" dirty="0">
                <a:latin typeface="微软雅黑" panose="020B0503020204020204" pitchFamily="34" charset="-122"/>
                <a:ea typeface="微软雅黑" panose="020B0503020204020204" pitchFamily="34" charset="-122"/>
                <a:cs typeface="+mn-lt"/>
              </a:rPr>
              <a:t>answers-traps.txt</a:t>
            </a:r>
            <a:r>
              <a:rPr lang="zh-CN" altLang="en-US" sz="2000" dirty="0">
                <a:latin typeface="微软雅黑" panose="020B0503020204020204" pitchFamily="34" charset="-122"/>
                <a:ea typeface="微软雅黑" panose="020B0503020204020204" pitchFamily="34" charset="-122"/>
                <a:cs typeface="+mn-lt"/>
              </a:rPr>
              <a:t>文件中）</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1" lang="en-US" altLang="zh-CN" b="1" dirty="0">
              <a:solidFill>
                <a:srgbClr val="990000"/>
              </a:solidFill>
              <a:latin typeface="微软雅黑" panose="020B0503020204020204" pitchFamily="34" charset="-122"/>
              <a:ea typeface="微软雅黑" panose="020B0503020204020204" pitchFamily="34" charset="-12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a:t>
            </a:r>
            <a:r>
              <a:rPr lang="en-US" altLang="zh-CN" dirty="0">
                <a:solidFill>
                  <a:srgbClr val="002060"/>
                </a:solidFill>
                <a:sym typeface="+mn-ea"/>
              </a:rPr>
              <a:t>RISC-V assembly</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1189284" y="2375741"/>
            <a:ext cx="10020701" cy="422951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首先，执行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make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fs.img</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指令，进行编译。然后查看生成的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user/call.asm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文件，其中的 </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main </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函数如下：</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a:t>
            </a:r>
            <a:r>
              <a:rPr lang="en-US" altLang="zh-CN" dirty="0">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363765" y="6004763"/>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Q1</a:t>
            </a:r>
            <a:r>
              <a:rPr kumimoji="1" lang="zh-CN" altLang="en-US" sz="2400" b="1" dirty="0">
                <a:solidFill>
                  <a:srgbClr val="990000"/>
                </a:solidFill>
                <a:latin typeface="微软雅黑" panose="020B0503020204020204" pitchFamily="34" charset="-122"/>
                <a:ea typeface="微软雅黑" panose="020B0503020204020204" pitchFamily="34" charset="-122"/>
              </a:rPr>
              <a:t>：哪些寄存器保存函数的参数？例如，在</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对</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的调用中，哪个寄存器保存</a:t>
            </a:r>
            <a:r>
              <a:rPr kumimoji="1" lang="en-US" altLang="zh-CN" sz="2400" b="1" dirty="0">
                <a:solidFill>
                  <a:srgbClr val="990000"/>
                </a:solidFill>
                <a:latin typeface="微软雅黑" panose="020B0503020204020204" pitchFamily="34" charset="-122"/>
                <a:ea typeface="微软雅黑" panose="020B0503020204020204" pitchFamily="34" charset="-122"/>
              </a:rPr>
              <a:t>13</a:t>
            </a:r>
            <a:r>
              <a:rPr kumimoji="1" lang="zh-CN" altLang="en-US" sz="2400" b="1" dirty="0">
                <a:solidFill>
                  <a:srgbClr val="990000"/>
                </a:solidFill>
                <a:latin typeface="微软雅黑" panose="020B0503020204020204" pitchFamily="34" charset="-122"/>
                <a:ea typeface="微软雅黑" panose="020B0503020204020204" pitchFamily="34" charset="-122"/>
              </a:rPr>
              <a:t>？</a:t>
            </a:r>
          </a:p>
        </p:txBody>
      </p:sp>
      <p:pic>
        <p:nvPicPr>
          <p:cNvPr id="7" name="图片 6"/>
          <p:cNvPicPr>
            <a:picLocks noChangeAspect="1"/>
          </p:cNvPicPr>
          <p:nvPr/>
        </p:nvPicPr>
        <p:blipFill>
          <a:blip r:embed="rId3"/>
          <a:stretch>
            <a:fillRect/>
          </a:stretch>
        </p:blipFill>
        <p:spPr>
          <a:xfrm>
            <a:off x="810114" y="1961974"/>
            <a:ext cx="10043213" cy="37706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1</a:t>
            </a:r>
            <a:r>
              <a:rPr lang="zh-CN" altLang="en-US">
                <a:solidFill>
                  <a:srgbClr val="002060"/>
                </a:solidFill>
                <a:sym typeface="+mn-ea"/>
              </a:rPr>
              <a:t>：</a:t>
            </a:r>
            <a:r>
              <a:rPr lang="en-US" altLang="zh-CN">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101600" y="5134818"/>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Q2</a:t>
            </a:r>
            <a:r>
              <a:rPr kumimoji="1" lang="zh-CN" altLang="en-US" sz="2400" b="1" dirty="0">
                <a:solidFill>
                  <a:srgbClr val="990000"/>
                </a:solidFill>
                <a:latin typeface="微软雅黑" panose="020B0503020204020204" pitchFamily="34" charset="-122"/>
                <a:ea typeface="微软雅黑" panose="020B0503020204020204" pitchFamily="34" charset="-122"/>
              </a:rPr>
              <a:t>：</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函数中对</a:t>
            </a:r>
            <a:r>
              <a:rPr kumimoji="1" lang="en-US" altLang="zh-CN" sz="2400" b="1" dirty="0">
                <a:solidFill>
                  <a:srgbClr val="990000"/>
                </a:solidFill>
                <a:latin typeface="微软雅黑" panose="020B0503020204020204" pitchFamily="34" charset="-122"/>
                <a:ea typeface="微软雅黑" panose="020B0503020204020204" pitchFamily="34" charset="-122"/>
              </a:rPr>
              <a:t>f</a:t>
            </a:r>
            <a:r>
              <a:rPr kumimoji="1" lang="zh-CN" altLang="en-US" sz="2400" b="1" dirty="0">
                <a:solidFill>
                  <a:srgbClr val="990000"/>
                </a:solidFill>
                <a:latin typeface="微软雅黑" panose="020B0503020204020204" pitchFamily="34" charset="-122"/>
                <a:ea typeface="微软雅黑" panose="020B0503020204020204" pitchFamily="34" charset="-122"/>
              </a:rPr>
              <a:t>函数调用的汇编代码在哪里？对</a:t>
            </a:r>
            <a:r>
              <a:rPr kumimoji="1" lang="en-US" altLang="zh-CN" sz="2400" b="1" dirty="0">
                <a:solidFill>
                  <a:srgbClr val="990000"/>
                </a:solidFill>
                <a:latin typeface="微软雅黑" panose="020B0503020204020204" pitchFamily="34" charset="-122"/>
                <a:ea typeface="微软雅黑" panose="020B0503020204020204" pitchFamily="34" charset="-122"/>
              </a:rPr>
              <a:t>g</a:t>
            </a:r>
            <a:r>
              <a:rPr kumimoji="1" lang="zh-CN" altLang="en-US" sz="2400" b="1" dirty="0">
                <a:solidFill>
                  <a:srgbClr val="990000"/>
                </a:solidFill>
                <a:latin typeface="微软雅黑" panose="020B0503020204020204" pitchFamily="34" charset="-122"/>
                <a:ea typeface="微软雅黑" panose="020B0503020204020204" pitchFamily="34" charset="-122"/>
              </a:rPr>
              <a:t>函数的调用又在哪里？</a:t>
            </a:r>
          </a:p>
        </p:txBody>
      </p:sp>
      <p:sp>
        <p:nvSpPr>
          <p:cNvPr id="2" name="文本框 1"/>
          <p:cNvSpPr txBox="1"/>
          <p:nvPr/>
        </p:nvSpPr>
        <p:spPr>
          <a:xfrm>
            <a:off x="-101600" y="5642939"/>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Q3</a:t>
            </a:r>
            <a:r>
              <a:rPr kumimoji="1" lang="zh-CN" altLang="en-US" sz="2400" b="1" dirty="0">
                <a:solidFill>
                  <a:srgbClr val="990000"/>
                </a:solidFill>
                <a:latin typeface="微软雅黑" panose="020B0503020204020204" pitchFamily="34" charset="-122"/>
                <a:ea typeface="微软雅黑" panose="020B0503020204020204" pitchFamily="34" charset="-122"/>
              </a:rPr>
              <a:t>：</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函数的地址是什么？</a:t>
            </a:r>
          </a:p>
        </p:txBody>
      </p:sp>
      <p:sp>
        <p:nvSpPr>
          <p:cNvPr id="7" name="文本框 6"/>
          <p:cNvSpPr txBox="1"/>
          <p:nvPr/>
        </p:nvSpPr>
        <p:spPr>
          <a:xfrm>
            <a:off x="-101601" y="6223996"/>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Q4</a:t>
            </a:r>
            <a:r>
              <a:rPr kumimoji="1" lang="zh-CN" altLang="en-US" sz="2400" b="1" dirty="0">
                <a:solidFill>
                  <a:srgbClr val="990000"/>
                </a:solidFill>
                <a:latin typeface="微软雅黑" panose="020B0503020204020204" pitchFamily="34" charset="-122"/>
                <a:ea typeface="微软雅黑" panose="020B0503020204020204" pitchFamily="34" charset="-122"/>
              </a:rPr>
              <a:t>：在</a:t>
            </a:r>
            <a:r>
              <a:rPr kumimoji="1" lang="en-US" altLang="zh-CN" sz="2400" b="1" dirty="0">
                <a:solidFill>
                  <a:srgbClr val="990000"/>
                </a:solidFill>
                <a:latin typeface="微软雅黑" panose="020B0503020204020204" pitchFamily="34" charset="-122"/>
                <a:ea typeface="微软雅黑" panose="020B0503020204020204" pitchFamily="34" charset="-122"/>
              </a:rPr>
              <a:t>main</a:t>
            </a:r>
            <a:r>
              <a:rPr kumimoji="1" lang="zh-CN" altLang="en-US" sz="2400" b="1" dirty="0">
                <a:solidFill>
                  <a:srgbClr val="990000"/>
                </a:solidFill>
                <a:latin typeface="微软雅黑" panose="020B0503020204020204" pitchFamily="34" charset="-122"/>
                <a:ea typeface="微软雅黑" panose="020B0503020204020204" pitchFamily="34" charset="-122"/>
              </a:rPr>
              <a:t>函数中执行完跳转到</a:t>
            </a:r>
            <a:r>
              <a:rPr kumimoji="1" lang="en-US" altLang="zh-CN" sz="2400" b="1" dirty="0" err="1">
                <a:solidFill>
                  <a:srgbClr val="990000"/>
                </a:solidFill>
                <a:latin typeface="微软雅黑" panose="020B0503020204020204" pitchFamily="34" charset="-122"/>
                <a:ea typeface="微软雅黑" panose="020B0503020204020204" pitchFamily="34" charset="-122"/>
              </a:rPr>
              <a:t>printf</a:t>
            </a:r>
            <a:r>
              <a:rPr kumimoji="1" lang="zh-CN" altLang="en-US" sz="2400" b="1" dirty="0">
                <a:solidFill>
                  <a:srgbClr val="990000"/>
                </a:solidFill>
                <a:latin typeface="微软雅黑" panose="020B0503020204020204" pitchFamily="34" charset="-122"/>
                <a:ea typeface="微软雅黑" panose="020B0503020204020204" pitchFamily="34" charset="-122"/>
              </a:rPr>
              <a:t>函数的</a:t>
            </a:r>
            <a:r>
              <a:rPr kumimoji="1" lang="en-US" altLang="zh-CN" sz="2400" b="1" dirty="0" err="1">
                <a:solidFill>
                  <a:srgbClr val="990000"/>
                </a:solidFill>
                <a:latin typeface="微软雅黑" panose="020B0503020204020204" pitchFamily="34" charset="-122"/>
                <a:ea typeface="微软雅黑" panose="020B0503020204020204" pitchFamily="34" charset="-122"/>
              </a:rPr>
              <a:t>jalr</a:t>
            </a:r>
            <a:r>
              <a:rPr kumimoji="1" lang="zh-CN" altLang="en-US" sz="2400" b="1" dirty="0">
                <a:solidFill>
                  <a:srgbClr val="990000"/>
                </a:solidFill>
                <a:latin typeface="微软雅黑" panose="020B0503020204020204" pitchFamily="34" charset="-122"/>
                <a:ea typeface="微软雅黑" panose="020B0503020204020204" pitchFamily="34" charset="-122"/>
              </a:rPr>
              <a:t>指令之后，</a:t>
            </a:r>
            <a:r>
              <a:rPr kumimoji="1" lang="en-US" altLang="zh-CN" sz="2400" b="1" dirty="0" err="1">
                <a:solidFill>
                  <a:srgbClr val="990000"/>
                </a:solidFill>
                <a:latin typeface="微软雅黑" panose="020B0503020204020204" pitchFamily="34" charset="-122"/>
                <a:ea typeface="微软雅黑" panose="020B0503020204020204" pitchFamily="34" charset="-122"/>
              </a:rPr>
              <a:t>ra</a:t>
            </a:r>
            <a:r>
              <a:rPr kumimoji="1" lang="zh-CN" altLang="en-US" sz="2400" b="1" dirty="0">
                <a:solidFill>
                  <a:srgbClr val="990000"/>
                </a:solidFill>
                <a:latin typeface="微软雅黑" panose="020B0503020204020204" pitchFamily="34" charset="-122"/>
                <a:ea typeface="微软雅黑" panose="020B0503020204020204" pitchFamily="34" charset="-122"/>
              </a:rPr>
              <a:t>寄存器的值是什么？</a:t>
            </a:r>
          </a:p>
        </p:txBody>
      </p:sp>
      <p:pic>
        <p:nvPicPr>
          <p:cNvPr id="6" name="图片 5">
            <a:extLst>
              <a:ext uri="{FF2B5EF4-FFF2-40B4-BE49-F238E27FC236}">
                <a16:creationId xmlns:a16="http://schemas.microsoft.com/office/drawing/2014/main" id="{FFCB0B9F-0E86-4E12-4D2C-5B8E3533D048}"/>
              </a:ext>
            </a:extLst>
          </p:cNvPr>
          <p:cNvPicPr>
            <a:picLocks noChangeAspect="1"/>
          </p:cNvPicPr>
          <p:nvPr/>
        </p:nvPicPr>
        <p:blipFill>
          <a:blip r:embed="rId3"/>
          <a:stretch>
            <a:fillRect/>
          </a:stretch>
        </p:blipFill>
        <p:spPr>
          <a:xfrm>
            <a:off x="204158" y="1346321"/>
            <a:ext cx="11378242" cy="30839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1</a:t>
            </a:r>
            <a:r>
              <a:rPr lang="zh-CN" altLang="en-US">
                <a:solidFill>
                  <a:srgbClr val="002060"/>
                </a:solidFill>
                <a:sym typeface="+mn-ea"/>
              </a:rPr>
              <a:t>：</a:t>
            </a:r>
            <a:r>
              <a:rPr lang="en-US" altLang="zh-CN">
                <a:solidFill>
                  <a:srgbClr val="002060"/>
                </a:solidFill>
                <a:sym typeface="+mn-ea"/>
              </a:rPr>
              <a:t>RISC-V assembly</a:t>
            </a:r>
            <a:endParaRPr lang="zh-CN" altLang="en-US" dirty="0">
              <a:solidFill>
                <a:srgbClr val="002060"/>
              </a:solidFill>
              <a:sym typeface="+mn-ea"/>
            </a:endParaRPr>
          </a:p>
        </p:txBody>
      </p:sp>
      <p:sp>
        <p:nvSpPr>
          <p:cNvPr id="4" name="文本框 3"/>
          <p:cNvSpPr txBox="1"/>
          <p:nvPr/>
        </p:nvSpPr>
        <p:spPr>
          <a:xfrm>
            <a:off x="-184378" y="918660"/>
            <a:ext cx="12919529" cy="581057"/>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Q5</a:t>
            </a:r>
            <a:r>
              <a:rPr kumimoji="1" lang="zh-CN" altLang="en-US" sz="2400" b="1" dirty="0">
                <a:solidFill>
                  <a:srgbClr val="990000"/>
                </a:solidFill>
                <a:latin typeface="微软雅黑" panose="020B0503020204020204" pitchFamily="34" charset="-122"/>
                <a:ea typeface="微软雅黑" panose="020B0503020204020204" pitchFamily="34" charset="-122"/>
              </a:rPr>
              <a:t>： 执行下面的代码会输出什么？</a:t>
            </a:r>
          </a:p>
        </p:txBody>
      </p:sp>
      <p:sp>
        <p:nvSpPr>
          <p:cNvPr id="8" name="文本框 7"/>
          <p:cNvSpPr txBox="1"/>
          <p:nvPr/>
        </p:nvSpPr>
        <p:spPr>
          <a:xfrm>
            <a:off x="-184379" y="3002870"/>
            <a:ext cx="12376379" cy="1762919"/>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pPr>
            <a:r>
              <a:rPr kumimoji="1" lang="en-US" altLang="zh-CN" sz="2400" b="1" dirty="0">
                <a:solidFill>
                  <a:srgbClr val="990000"/>
                </a:solidFill>
                <a:latin typeface="微软雅黑" panose="020B0503020204020204" pitchFamily="34" charset="-122"/>
                <a:ea typeface="微软雅黑" panose="020B0503020204020204" pitchFamily="34" charset="-122"/>
              </a:rPr>
              <a:t>Q6</a:t>
            </a:r>
            <a:r>
              <a:rPr kumimoji="1" lang="zh-CN" altLang="en-US" sz="2400" b="1" dirty="0">
                <a:solidFill>
                  <a:srgbClr val="990000"/>
                </a:solidFill>
                <a:latin typeface="微软雅黑" panose="020B0503020204020204" pitchFamily="34" charset="-122"/>
                <a:ea typeface="微软雅黑" panose="020B0503020204020204" pitchFamily="34" charset="-122"/>
              </a:rPr>
              <a:t>： 在下面的代码中，“</a:t>
            </a:r>
            <a:r>
              <a:rPr kumimoji="1" lang="en-US" altLang="zh-CN" sz="2400" b="1" dirty="0">
                <a:solidFill>
                  <a:srgbClr val="990000"/>
                </a:solidFill>
                <a:latin typeface="微软雅黑" panose="020B0503020204020204" pitchFamily="34" charset="-122"/>
                <a:ea typeface="微软雅黑" panose="020B0503020204020204" pitchFamily="34" charset="-122"/>
              </a:rPr>
              <a:t>y=”</a:t>
            </a:r>
            <a:r>
              <a:rPr kumimoji="1" lang="zh-CN" altLang="en-US" sz="2400" b="1" dirty="0">
                <a:solidFill>
                  <a:srgbClr val="990000"/>
                </a:solidFill>
                <a:latin typeface="微软雅黑" panose="020B0503020204020204" pitchFamily="34" charset="-122"/>
                <a:ea typeface="微软雅黑" panose="020B0503020204020204" pitchFamily="34" charset="-122"/>
              </a:rPr>
              <a:t>之后将打印什么</a:t>
            </a:r>
            <a:r>
              <a:rPr kumimoji="1" lang="en-US" altLang="zh-CN" sz="2400" b="1" dirty="0">
                <a:solidFill>
                  <a:srgbClr val="990000"/>
                </a:solidFill>
                <a:latin typeface="微软雅黑" panose="020B0503020204020204" pitchFamily="34" charset="-122"/>
                <a:ea typeface="微软雅黑" panose="020B0503020204020204" pitchFamily="34" charset="-122"/>
              </a:rPr>
              <a:t>(</a:t>
            </a:r>
            <a:r>
              <a:rPr kumimoji="1" lang="zh-CN" altLang="en-US" sz="2400" b="1" dirty="0">
                <a:solidFill>
                  <a:srgbClr val="990000"/>
                </a:solidFill>
                <a:latin typeface="微软雅黑" panose="020B0503020204020204" pitchFamily="34" charset="-122"/>
                <a:ea typeface="微软雅黑" panose="020B0503020204020204" pitchFamily="34" charset="-122"/>
              </a:rPr>
              <a:t>注：答案不是一个特定的值）？为什么会发生这种情况？</a:t>
            </a:r>
            <a:endParaRPr kumimoji="1" lang="en-US" altLang="zh-CN" sz="2400" b="1" dirty="0">
              <a:solidFill>
                <a:srgbClr val="990000"/>
              </a:solidFill>
              <a:latin typeface="微软雅黑" panose="020B0503020204020204" pitchFamily="34" charset="-122"/>
              <a:ea typeface="微软雅黑" panose="020B0503020204020204" pitchFamily="34" charset="-122"/>
            </a:endParaRPr>
          </a:p>
          <a:p>
            <a:pPr lvl="1" fontAlgn="base" latinLnBrk="1">
              <a:lnSpc>
                <a:spcPct val="150000"/>
              </a:lnSpc>
              <a:spcBef>
                <a:spcPct val="20000"/>
              </a:spcBef>
              <a:spcAft>
                <a:spcPct val="0"/>
              </a:spcAft>
              <a:buClr>
                <a:srgbClr val="8AC6CD"/>
              </a:buClr>
              <a:buSzPct val="120000"/>
            </a:pPr>
            <a:endParaRPr kumimoji="1" lang="zh-CN" altLang="en-US" sz="2400" b="1" dirty="0">
              <a:solidFill>
                <a:srgbClr val="99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125571" y="1563883"/>
            <a:ext cx="11456829" cy="1374820"/>
          </a:xfrm>
          <a:prstGeom prst="rect">
            <a:avLst/>
          </a:prstGeom>
        </p:spPr>
      </p:pic>
      <p:pic>
        <p:nvPicPr>
          <p:cNvPr id="9" name="图片 8"/>
          <p:cNvPicPr>
            <a:picLocks noChangeAspect="1"/>
          </p:cNvPicPr>
          <p:nvPr/>
        </p:nvPicPr>
        <p:blipFill>
          <a:blip r:embed="rId4"/>
          <a:stretch>
            <a:fillRect/>
          </a:stretch>
        </p:blipFill>
        <p:spPr>
          <a:xfrm>
            <a:off x="125571" y="4208522"/>
            <a:ext cx="11322870" cy="847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本实验要实现一个</a:t>
            </a:r>
            <a:r>
              <a:rPr lang="zh-CN" altLang="en-US" sz="2000" dirty="0">
                <a:latin typeface="微软雅黑" panose="020B0503020204020204" pitchFamily="34" charset="-122"/>
                <a:ea typeface="微软雅黑" panose="020B0503020204020204" pitchFamily="34" charset="-122"/>
                <a:cs typeface="+mn-lt"/>
                <a:hlinkClick r:id="rId3">
                  <a:extLst>
                    <a:ext uri="{A12FA001-AC4F-418D-AE19-62706E023703}">
                      <ahyp:hlinkClr xmlns:ahyp="http://schemas.microsoft.com/office/drawing/2018/hyperlinkcolor" val="tx"/>
                    </a:ext>
                  </a:extLst>
                </a:hlinkClick>
              </a:rPr>
              <a:t>内核函数</a:t>
            </a:r>
            <a:r>
              <a:rPr lang="zh-CN" altLang="en-US" sz="2000" dirty="0">
                <a:latin typeface="微软雅黑" panose="020B0503020204020204" pitchFamily="34" charset="-122"/>
                <a:ea typeface="微软雅黑" panose="020B0503020204020204" pitchFamily="34" charset="-122"/>
                <a:cs typeface="+mn-lt"/>
              </a:rPr>
              <a:t> </a:t>
            </a:r>
            <a:r>
              <a:rPr lang="en-US" altLang="zh-CN" sz="2000" dirty="0">
                <a:latin typeface="微软雅黑" panose="020B0503020204020204" pitchFamily="34" charset="-122"/>
                <a:ea typeface="微软雅黑" panose="020B0503020204020204" pitchFamily="34" charset="-122"/>
                <a:cs typeface="+mn-lt"/>
              </a:rPr>
              <a:t>backtrace</a:t>
            </a:r>
            <a:r>
              <a:rPr lang="zh-CN" altLang="en-US" sz="2000" dirty="0">
                <a:latin typeface="微软雅黑" panose="020B0503020204020204" pitchFamily="34" charset="-122"/>
                <a:ea typeface="微软雅黑" panose="020B0503020204020204" pitchFamily="34" charset="-122"/>
                <a:cs typeface="+mn-lt"/>
              </a:rPr>
              <a:t>，该函数用来回溯调用者的</a:t>
            </a:r>
            <a:r>
              <a:rPr lang="zh-CN" altLang="en-US" sz="2000" dirty="0">
                <a:latin typeface="微软雅黑" panose="020B0503020204020204" pitchFamily="34" charset="-122"/>
                <a:ea typeface="微软雅黑" panose="020B0503020204020204" pitchFamily="34" charset="-122"/>
                <a:cs typeface="+mn-lt"/>
                <a:hlinkClick r:id="rId4">
                  <a:extLst>
                    <a:ext uri="{A12FA001-AC4F-418D-AE19-62706E023703}">
                      <ahyp:hlinkClr xmlns:ahyp="http://schemas.microsoft.com/office/drawing/2018/hyperlinkcolor" val="tx"/>
                    </a:ext>
                  </a:extLst>
                </a:hlinkClick>
              </a:rPr>
              <a:t>函数调用链</a:t>
            </a:r>
            <a:r>
              <a:rPr lang="zh-CN" altLang="en-US" sz="2000" dirty="0">
                <a:latin typeface="微软雅黑" panose="020B0503020204020204" pitchFamily="34" charset="-122"/>
                <a:ea typeface="微软雅黑" panose="020B0503020204020204" pitchFamily="34" charset="-122"/>
                <a:cs typeface="+mn-lt"/>
              </a:rPr>
              <a:t>，将所有的调用者的 </a:t>
            </a:r>
            <a:r>
              <a:rPr lang="en-US" altLang="zh-CN" sz="2000" dirty="0">
                <a:latin typeface="微软雅黑" panose="020B0503020204020204" pitchFamily="34" charset="-122"/>
                <a:ea typeface="微软雅黑" panose="020B0503020204020204" pitchFamily="34" charset="-122"/>
                <a:cs typeface="+mn-lt"/>
              </a:rPr>
              <a:t>pc </a:t>
            </a:r>
            <a:r>
              <a:rPr lang="zh-CN" altLang="en-US" sz="2000" dirty="0">
                <a:latin typeface="微软雅黑" panose="020B0503020204020204" pitchFamily="34" charset="-122"/>
                <a:ea typeface="微软雅黑" panose="020B0503020204020204" pitchFamily="34" charset="-122"/>
                <a:cs typeface="+mn-lt"/>
              </a:rPr>
              <a:t>打印出来</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sys_</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sleep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中插入一个对此函数的调用，然后运行</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bttest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，它将会调用</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sys_sleep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。你的输出应该如下所示：</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a:t>
            </a:r>
            <a:r>
              <a:rPr lang="en-US" altLang="zh-CN" dirty="0" err="1">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5"/>
          <a:stretch>
            <a:fillRect/>
          </a:stretch>
        </p:blipFill>
        <p:spPr>
          <a:xfrm>
            <a:off x="578344" y="2946088"/>
            <a:ext cx="6508553" cy="1573158"/>
          </a:xfrm>
          <a:prstGeom prst="rect">
            <a:avLst/>
          </a:prstGeom>
        </p:spPr>
      </p:pic>
      <p:pic>
        <p:nvPicPr>
          <p:cNvPr id="2" name="图片 1">
            <a:extLst>
              <a:ext uri="{FF2B5EF4-FFF2-40B4-BE49-F238E27FC236}">
                <a16:creationId xmlns:a16="http://schemas.microsoft.com/office/drawing/2014/main" id="{FEDDB1A8-B49D-0D3E-F649-00974E60F253}"/>
              </a:ext>
            </a:extLst>
          </p:cNvPr>
          <p:cNvPicPr>
            <a:picLocks noChangeAspect="1"/>
          </p:cNvPicPr>
          <p:nvPr/>
        </p:nvPicPr>
        <p:blipFill rotWithShape="1">
          <a:blip r:embed="rId6"/>
          <a:srcRect b="1318"/>
          <a:stretch>
            <a:fillRect/>
          </a:stretch>
        </p:blipFill>
        <p:spPr>
          <a:xfrm>
            <a:off x="8715094" y="2584529"/>
            <a:ext cx="2370328" cy="38694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lang="zh-CN" altLang="en-US" sz="2000" b="1" dirty="0">
                <a:latin typeface="微软雅黑" panose="020B0503020204020204" pitchFamily="34" charset="-122"/>
                <a:ea typeface="微软雅黑" panose="020B0503020204020204" pitchFamily="34" charset="-122"/>
                <a:cs typeface="+mn-lt"/>
                <a:sym typeface="Wingdings" panose="05000000000000000000" pitchFamily="2" charset="2"/>
              </a:rPr>
              <a:t>实验须知</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每调用一个函数，函数都会为自己创建一个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栈是从高地址开始向低地址使用。所以栈总是向下增长。</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Return address</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总是会出现在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的第一位，指向前一个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的指针也会出现在栈中的固定位置</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第一个寄存器是</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Pointer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），它指向</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的底部并代表了当前</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的位置。第二个寄存器是</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Frame Pointer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），它指向当前</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的顶部。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FP-8</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位是返回地址，</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FP-16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位是上一个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地址。保存前一个</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的指针的原因是为了让我们能跳转回去。</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在内核中以页面对齐的地址为每个栈分配一个页面。你可以通过</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PGROUNDDOWN(</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PGROUNDUP(</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（参见</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riscv.h</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）来计算栈页面的顶部和底部地址。</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a:t>
            </a:r>
            <a:r>
              <a:rPr lang="en-US" altLang="zh-CN" dirty="0" err="1">
                <a:solidFill>
                  <a:srgbClr val="002060"/>
                </a:solidFill>
                <a:sym typeface="+mn-ea"/>
              </a:rPr>
              <a:t>Backtrace</a:t>
            </a:r>
            <a:endParaRPr lang="zh-CN" altLang="en-US" dirty="0">
              <a:solidFill>
                <a:srgbClr val="002060"/>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实验步骤</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将一个读取</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寄存器的嵌入式汇编定义到</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riscv.h</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文件中：</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12" name="图片 11"/>
          <p:cNvPicPr>
            <a:picLocks noChangeAspect="1"/>
          </p:cNvPicPr>
          <p:nvPr/>
        </p:nvPicPr>
        <p:blipFill>
          <a:blip r:embed="rId3"/>
          <a:stretch>
            <a:fillRect/>
          </a:stretch>
        </p:blipFill>
        <p:spPr>
          <a:xfrm>
            <a:off x="543245" y="1932897"/>
            <a:ext cx="9450196" cy="283085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defs.h</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中添加</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的原型，在</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printf.c</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中定义</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8" name="图片 7"/>
          <p:cNvPicPr>
            <a:picLocks noChangeAspect="1"/>
          </p:cNvPicPr>
          <p:nvPr/>
        </p:nvPicPr>
        <p:blipFill>
          <a:blip r:embed="rId3"/>
          <a:stretch>
            <a:fillRect/>
          </a:stretch>
        </p:blipFill>
        <p:spPr>
          <a:xfrm>
            <a:off x="493433" y="2064579"/>
            <a:ext cx="10417839" cy="229640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 </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r_fp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来获得栈指针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，打印出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- 8)</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，然后跳转到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- 16)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即可，以此循环。</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整个栈空间是有个范围的，所有的函数的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Stack Frame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均在其中，并且每一个栈指针都是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4k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对齐的，因此如果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不是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4k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地址对齐，那么就说明超过范围了。</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中通过宏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PGROUNDUP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PGROUNDDOWN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分别进行向上对齐和向下对齐，可以通过他们检验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fp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的正确性。代码如下：</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720155" y="3124164"/>
            <a:ext cx="5047599" cy="370930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调用</a:t>
            </a: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742950" marR="0" lvl="1"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实验要求，在发生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panic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时调用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，因此在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kernel/</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printf.c</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文件中的 </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panic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函数里添加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backtrace</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的函数调用；在 </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sys_sleep</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 </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代码中也添加同样的函数调用</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727656" y="2364929"/>
            <a:ext cx="10172945" cy="36548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2</a:t>
            </a:r>
            <a:r>
              <a:rPr lang="zh-CN" altLang="en-US">
                <a:solidFill>
                  <a:srgbClr val="002060"/>
                </a:solidFill>
                <a:sym typeface="+mn-ea"/>
              </a:rPr>
              <a:t>：</a:t>
            </a:r>
            <a:r>
              <a:rPr lang="en-US" altLang="zh-CN">
                <a:solidFill>
                  <a:srgbClr val="002060"/>
                </a:solidFill>
                <a:sym typeface="+mn-ea"/>
              </a:rPr>
              <a:t>Backtrace</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668085" y="1527175"/>
            <a:ext cx="9460052" cy="348423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3310467"/>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本实验你将向</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添加一个特性，在进程使用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CPU</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的时间内，</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XV6</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定期向进程发出警报。</a:t>
            </a:r>
            <a:endPar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你应该添加一个新的</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interval</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handler</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）系统调用。如果应用程序调用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），那么在程序消耗的每</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个</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CPU</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时间“</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ticks</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”之后，内核应该调用应用程序函数</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。当</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返回时，应用程序应该从它停止的地方继续。在</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xv6</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中，</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 ticks</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是一个相当任意的时间单位，由硬件定时器产生中断的频率决定。如果应用程序调用</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sigalarm</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a:t>
            </a:r>
            <a:r>
              <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rPr>
              <a:t>0,0</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），内核应停止生成周期性的报警调用</a:t>
            </a: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还应该添加一个新的</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sigreturn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系统调用，该系统调用在处理完</a:t>
            </a:r>
            <a:r>
              <a:rPr lang="en-US" altLang="zh-CN" sz="2000" dirty="0" err="1">
                <a:latin typeface="微软雅黑" panose="020B0503020204020204" pitchFamily="34" charset="-122"/>
                <a:ea typeface="微软雅黑" panose="020B0503020204020204" pitchFamily="34" charset="-122"/>
                <a:cs typeface="+mn-lt"/>
                <a:sym typeface="Wingdings" panose="05000000000000000000" pitchFamily="2" charset="2"/>
              </a:rPr>
              <a:t>fn</a:t>
            </a:r>
            <a:r>
              <a:rPr lang="zh-CN" altLang="en-US" sz="2000" dirty="0">
                <a:latin typeface="微软雅黑" panose="020B0503020204020204" pitchFamily="34" charset="-122"/>
                <a:ea typeface="微软雅黑" panose="020B0503020204020204" pitchFamily="34" charset="-122"/>
                <a:cs typeface="+mn-lt"/>
                <a:sym typeface="Wingdings" panose="05000000000000000000" pitchFamily="2" charset="2"/>
              </a:rPr>
              <a:t>后能够返回到被陷入位置的下一跳指令继续执行原本的代码</a:t>
            </a: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Alarm</a:t>
            </a:r>
            <a:endParaRPr lang="zh-CN" altLang="en-US" dirty="0">
              <a:solidFill>
                <a:srgbClr val="002060"/>
              </a:solidFill>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a:t>
            </a:r>
            <a:r>
              <a:rPr lang="en-US" altLang="zh-CN" dirty="0">
                <a:solidFill>
                  <a:srgbClr val="002060"/>
                </a:solidFill>
                <a:sym typeface="+mn-ea"/>
              </a:rPr>
              <a:t>Alarm</a:t>
            </a:r>
            <a:endParaRPr lang="zh-CN" altLang="en-US" dirty="0">
              <a:solidFill>
                <a:srgbClr val="002060"/>
              </a:solidFill>
              <a:sym typeface="+mn-ea"/>
            </a:endParaRPr>
          </a:p>
        </p:txBody>
      </p:sp>
      <p:sp>
        <p:nvSpPr>
          <p:cNvPr id="11" name="文本框 10"/>
          <p:cNvSpPr txBox="1"/>
          <p:nvPr/>
        </p:nvSpPr>
        <p:spPr>
          <a:xfrm>
            <a:off x="440742" y="882854"/>
            <a:ext cx="10894786" cy="975973"/>
          </a:xfrm>
          <a:prstGeom prst="rect">
            <a:avLst/>
          </a:prstGeom>
          <a:noFill/>
        </p:spPr>
        <p:txBody>
          <a:bodyPr wrap="square">
            <a:spAutoFit/>
          </a:bodyPr>
          <a:lstStyle/>
          <a:p>
            <a:pPr marL="457200" indent="-457200" fontAlgn="base" latinLnBrk="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fontAlgn="base" latinLnBrk="1">
              <a:lnSpc>
                <a:spcPct val="150000"/>
              </a:lnSpc>
              <a:spcBef>
                <a:spcPct val="20000"/>
              </a:spcBef>
              <a:spcAft>
                <a:spcPct val="0"/>
              </a:spcAft>
              <a:buClr>
                <a:srgbClr val="8AC6CD"/>
              </a:buClr>
              <a:buSzPct val="120000"/>
              <a:defRPr/>
            </a:pPr>
            <a:endParaRPr lang="en-US" altLang="zh-CN" dirty="0"/>
          </a:p>
        </p:txBody>
      </p:sp>
      <p:pic>
        <p:nvPicPr>
          <p:cNvPr id="4" name="图片 3"/>
          <p:cNvPicPr>
            <a:picLocks noChangeAspect="1"/>
          </p:cNvPicPr>
          <p:nvPr/>
        </p:nvPicPr>
        <p:blipFill>
          <a:blip r:embed="rId3"/>
          <a:stretch>
            <a:fillRect/>
          </a:stretch>
        </p:blipFill>
        <p:spPr>
          <a:xfrm>
            <a:off x="755495" y="1631914"/>
            <a:ext cx="5975604" cy="4579525"/>
          </a:xfrm>
          <a:prstGeom prst="rect">
            <a:avLst/>
          </a:prstGeom>
        </p:spPr>
      </p:pic>
      <p:sp>
        <p:nvSpPr>
          <p:cNvPr id="5" name="文本框 4">
            <a:extLst>
              <a:ext uri="{FF2B5EF4-FFF2-40B4-BE49-F238E27FC236}">
                <a16:creationId xmlns:a16="http://schemas.microsoft.com/office/drawing/2014/main" id="{E5FC7760-471A-7B34-4594-359BD20B2DF3}"/>
              </a:ext>
            </a:extLst>
          </p:cNvPr>
          <p:cNvSpPr txBox="1"/>
          <p:nvPr/>
        </p:nvSpPr>
        <p:spPr>
          <a:xfrm>
            <a:off x="7325903" y="1631914"/>
            <a:ext cx="4690693" cy="4770537"/>
          </a:xfrm>
          <a:prstGeom prst="rect">
            <a:avLst/>
          </a:prstGeom>
          <a:noFill/>
        </p:spPr>
        <p:txBody>
          <a:bodyPr wrap="square">
            <a:spAutoFit/>
          </a:bodyPr>
          <a:lstStyle/>
          <a:p>
            <a:r>
              <a:rPr lang="zh-CN" altLang="en-US" sz="1600" dirty="0"/>
              <a:t>用户代码</a:t>
            </a:r>
          </a:p>
          <a:p>
            <a:r>
              <a:rPr lang="zh-CN" altLang="en-US" sz="1600" dirty="0"/>
              <a:t>    ↓                </a:t>
            </a:r>
            <a:endParaRPr lang="en-US" altLang="zh-CN" sz="1600" dirty="0"/>
          </a:p>
          <a:p>
            <a:r>
              <a:rPr lang="zh-CN" altLang="en-US" sz="1600" dirty="0"/>
              <a:t>ecall / 错误 / 时钟中断</a:t>
            </a:r>
          </a:p>
          <a:p>
            <a:r>
              <a:rPr lang="zh-CN" altLang="en-US" sz="1600" dirty="0"/>
              <a:t>    ↓</a:t>
            </a:r>
          </a:p>
          <a:p>
            <a:r>
              <a:rPr lang="zh-CN" altLang="en-US" sz="1600" dirty="0"/>
              <a:t>CPU 自动硬件操作（保存 PC、切模式、跳 stvec）</a:t>
            </a:r>
          </a:p>
          <a:p>
            <a:r>
              <a:rPr lang="zh-CN" altLang="en-US" sz="1600" dirty="0"/>
              <a:t>    ↓</a:t>
            </a:r>
          </a:p>
          <a:p>
            <a:r>
              <a:rPr lang="zh-CN" altLang="en-US" sz="1600" dirty="0"/>
              <a:t>进入内核 trap 入口</a:t>
            </a:r>
          </a:p>
          <a:p>
            <a:r>
              <a:rPr lang="zh-CN" altLang="en-US" sz="1600" dirty="0"/>
              <a:t>    ↓</a:t>
            </a:r>
          </a:p>
          <a:p>
            <a:r>
              <a:rPr lang="zh-CN" altLang="en-US" sz="1600" dirty="0"/>
              <a:t>内核切换内核栈、保存寄存器</a:t>
            </a:r>
          </a:p>
          <a:p>
            <a:r>
              <a:rPr lang="zh-CN" altLang="en-US" sz="1600" dirty="0"/>
              <a:t>    ↓</a:t>
            </a:r>
          </a:p>
          <a:p>
            <a:r>
              <a:rPr lang="zh-CN" altLang="en-US" sz="1600" dirty="0"/>
              <a:t>处理 syscall/异常/中断</a:t>
            </a:r>
          </a:p>
          <a:p>
            <a:r>
              <a:rPr lang="zh-CN" altLang="en-US" sz="1600" dirty="0"/>
              <a:t>    ↓</a:t>
            </a:r>
          </a:p>
          <a:p>
            <a:r>
              <a:rPr lang="zh-CN" altLang="en-US" sz="1600" dirty="0"/>
              <a:t>（可能调度换进程）</a:t>
            </a:r>
          </a:p>
          <a:p>
            <a:r>
              <a:rPr lang="zh-CN" altLang="en-US" sz="1600" dirty="0"/>
              <a:t>    ↓</a:t>
            </a:r>
          </a:p>
          <a:p>
            <a:r>
              <a:rPr lang="zh-CN" altLang="en-US" sz="1600" dirty="0"/>
              <a:t>恢复用户寄存器、恢复 sepc</a:t>
            </a:r>
          </a:p>
          <a:p>
            <a:r>
              <a:rPr lang="zh-CN" altLang="en-US" sz="1600" dirty="0"/>
              <a:t>    ↓</a:t>
            </a:r>
          </a:p>
          <a:p>
            <a:r>
              <a:rPr lang="zh-CN" altLang="en-US" sz="1600" dirty="0"/>
              <a:t>sret</a:t>
            </a:r>
          </a:p>
          <a:p>
            <a:r>
              <a:rPr lang="zh-CN" altLang="en-US" sz="1600" dirty="0"/>
              <a:t>    ↓</a:t>
            </a:r>
          </a:p>
          <a:p>
            <a:r>
              <a:rPr lang="zh-CN" altLang="en-US" sz="1600" dirty="0"/>
              <a:t>回到用户程序继续执行</a:t>
            </a:r>
          </a:p>
        </p:txBody>
      </p:sp>
      <p:sp>
        <p:nvSpPr>
          <p:cNvPr id="6" name="矩形 5">
            <a:extLst>
              <a:ext uri="{FF2B5EF4-FFF2-40B4-BE49-F238E27FC236}">
                <a16:creationId xmlns:a16="http://schemas.microsoft.com/office/drawing/2014/main" id="{63423A38-951B-3190-C2AF-D122D34274AB}"/>
              </a:ext>
            </a:extLst>
          </p:cNvPr>
          <p:cNvSpPr/>
          <p:nvPr/>
        </p:nvSpPr>
        <p:spPr bwMode="auto">
          <a:xfrm>
            <a:off x="6978770" y="2915728"/>
            <a:ext cx="3631721" cy="1104181"/>
          </a:xfrm>
          <a:prstGeom prst="rect">
            <a:avLst/>
          </a:prstGeom>
          <a:noFill/>
          <a:ln w="19050" cap="flat" cmpd="sng" algn="ctr">
            <a:solidFill>
              <a:srgbClr val="FF000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endParaRPr>
          </a:p>
        </p:txBody>
      </p:sp>
      <p:sp>
        <p:nvSpPr>
          <p:cNvPr id="7" name="矩形 6">
            <a:extLst>
              <a:ext uri="{FF2B5EF4-FFF2-40B4-BE49-F238E27FC236}">
                <a16:creationId xmlns:a16="http://schemas.microsoft.com/office/drawing/2014/main" id="{7EC6D989-4CEF-5988-D3B6-9258CB0155BF}"/>
              </a:ext>
            </a:extLst>
          </p:cNvPr>
          <p:cNvSpPr/>
          <p:nvPr/>
        </p:nvSpPr>
        <p:spPr bwMode="auto">
          <a:xfrm>
            <a:off x="6978769" y="4945894"/>
            <a:ext cx="3631721" cy="1104181"/>
          </a:xfrm>
          <a:prstGeom prst="rect">
            <a:avLst/>
          </a:prstGeom>
          <a:noFill/>
          <a:ln w="19050" cap="flat" cmpd="sng" algn="ctr">
            <a:solidFill>
              <a:srgbClr val="FF0000"/>
            </a:solidFill>
            <a:prstDash val="dash"/>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46667"/>
            <a:ext cx="12242800" cy="4284133"/>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实现系统调用</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，这个系统调用可以设置一个进程被时钟打断的间隔</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Inteval</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和响应函数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，一经设定，这个进程就会以</a:t>
            </a:r>
            <a:r>
              <a:rPr kumimoji="0" lang="en-US" altLang="zh-CN" sz="20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Inteval</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的时间间隔调用处理函数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，从而进入上图的完整调用流程。因为时间间隔和调用函数</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handler</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都是与进程状态强相关的，所以我们将其保存在</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struct proc</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中，经过修改之后的</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proc</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结构体如下</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新添加的域都以尖括号的形式注释</a:t>
            </a:r>
            <a:r>
              <a:rPr kumimoji="0" lang="en-US" altLang="zh-CN"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20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8" name="图片 7"/>
          <p:cNvPicPr>
            <a:picLocks noChangeAspect="1"/>
          </p:cNvPicPr>
          <p:nvPr/>
        </p:nvPicPr>
        <p:blipFill>
          <a:blip r:embed="rId3"/>
          <a:stretch>
            <a:fillRect/>
          </a:stretch>
        </p:blipFill>
        <p:spPr>
          <a:xfrm>
            <a:off x="395893" y="3429000"/>
            <a:ext cx="11400213" cy="141571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在内核的实现</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非常简单，只是将用户传进来的参数记录到进程结构体中即可，所以它的实现如下所示：</a:t>
            </a:r>
            <a:endPar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9" name="图片 8"/>
          <p:cNvPicPr>
            <a:picLocks noChangeAspect="1"/>
          </p:cNvPicPr>
          <p:nvPr/>
        </p:nvPicPr>
        <p:blipFill>
          <a:blip r:embed="rId3"/>
          <a:stretch>
            <a:fillRect/>
          </a:stretch>
        </p:blipFill>
        <p:spPr>
          <a:xfrm>
            <a:off x="520430" y="2196011"/>
            <a:ext cx="9809696" cy="3372084"/>
          </a:xfrm>
          <a:prstGeom prst="rect">
            <a:avLst/>
          </a:prstGeom>
        </p:spPr>
      </p:pic>
      <p:sp>
        <p:nvSpPr>
          <p:cNvPr id="4" name="文本框 3"/>
          <p:cNvSpPr txBox="1"/>
          <p:nvPr/>
        </p:nvSpPr>
        <p:spPr>
          <a:xfrm>
            <a:off x="-326345" y="5568095"/>
            <a:ext cx="12569145" cy="1289905"/>
          </a:xfrm>
          <a:prstGeom prst="rect">
            <a:avLst/>
          </a:prstGeom>
          <a:noFill/>
        </p:spPr>
        <p:txBody>
          <a:bodyPr wrap="square">
            <a:spAutoFit/>
          </a:bodyPr>
          <a:lstStyle/>
          <a:p>
            <a:pPr lvl="1" fontAlgn="base" latinLnBrk="1">
              <a:lnSpc>
                <a:spcPct val="150000"/>
              </a:lnSpc>
              <a:spcBef>
                <a:spcPct val="20000"/>
              </a:spcBef>
              <a:spcAft>
                <a:spcPct val="0"/>
              </a:spcAft>
              <a:buClr>
                <a:srgbClr val="8AC6CD"/>
              </a:buClr>
              <a:buSzPct val="120000"/>
              <a:defRPr/>
            </a:pPr>
            <a:r>
              <a:rPr lang="zh-CN" altLang="en-US" dirty="0">
                <a:solidFill>
                  <a:srgbClr val="000000"/>
                </a:solidFill>
                <a:latin typeface="微软雅黑" panose="020B0503020204020204" pitchFamily="34" charset="-122"/>
                <a:ea typeface="微软雅黑" panose="020B0503020204020204" pitchFamily="34" charset="-122"/>
                <a:cs typeface="+mn-lt"/>
              </a:rPr>
              <a:t>在内核中实现了</a:t>
            </a:r>
            <a:r>
              <a:rPr lang="en-US" altLang="zh-CN" dirty="0" err="1">
                <a:solidFill>
                  <a:srgbClr val="000000"/>
                </a:solidFill>
                <a:latin typeface="微软雅黑" panose="020B0503020204020204" pitchFamily="34" charset="-122"/>
                <a:ea typeface="微软雅黑" panose="020B0503020204020204" pitchFamily="34" charset="-122"/>
                <a:cs typeface="+mn-lt"/>
              </a:rPr>
              <a:t>sigalarm</a:t>
            </a:r>
            <a:r>
              <a:rPr lang="zh-CN" altLang="en-US" dirty="0">
                <a:solidFill>
                  <a:srgbClr val="000000"/>
                </a:solidFill>
                <a:latin typeface="微软雅黑" panose="020B0503020204020204" pitchFamily="34" charset="-122"/>
                <a:ea typeface="微软雅黑" panose="020B0503020204020204" pitchFamily="34" charset="-122"/>
                <a:cs typeface="+mn-lt"/>
              </a:rPr>
              <a:t>系统调用之后，用户可能会在它的某个程序执行期间调用</a:t>
            </a:r>
            <a:r>
              <a:rPr lang="en-US" altLang="zh-CN" dirty="0" err="1">
                <a:solidFill>
                  <a:srgbClr val="000000"/>
                </a:solidFill>
                <a:latin typeface="微软雅黑" panose="020B0503020204020204" pitchFamily="34" charset="-122"/>
                <a:ea typeface="微软雅黑" panose="020B0503020204020204" pitchFamily="34" charset="-122"/>
                <a:cs typeface="+mn-lt"/>
              </a:rPr>
              <a:t>sigalarm</a:t>
            </a:r>
            <a:r>
              <a:rPr lang="zh-CN" altLang="en-US" dirty="0">
                <a:solidFill>
                  <a:srgbClr val="000000"/>
                </a:solidFill>
                <a:latin typeface="微软雅黑" panose="020B0503020204020204" pitchFamily="34" charset="-122"/>
                <a:ea typeface="微软雅黑" panose="020B0503020204020204" pitchFamily="34" charset="-122"/>
                <a:cs typeface="+mn-lt"/>
              </a:rPr>
              <a:t>系统调用，从而完成中断间隔时间和中断处理函数在内核的注册。一经注册，内核就开始对时间间隔进行统计，并开始周期性地调用这个中断处理函数了。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如同图中的①所示，一个进程在执行时，定时器可能会在其中某个不确定的时刻触发一个时钟中断。这时候将会进入系统调用的相应流程，首先经由</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trampoline</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进入</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函数，也就是上图中的②，在这里我们将对这个时钟中断进行处理，并适时地进行</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alarm</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响应过程</a:t>
            </a: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4" name="图片 3"/>
          <p:cNvPicPr>
            <a:picLocks noChangeAspect="1"/>
          </p:cNvPicPr>
          <p:nvPr/>
        </p:nvPicPr>
        <p:blipFill>
          <a:blip r:embed="rId3"/>
          <a:stretch>
            <a:fillRect/>
          </a:stretch>
        </p:blipFill>
        <p:spPr>
          <a:xfrm>
            <a:off x="518745" y="2602924"/>
            <a:ext cx="5173967" cy="396517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a:t>
            </a:r>
            <a:r>
              <a:rPr lang="en-US" altLang="zh-CN" dirty="0">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266700" y="2374088"/>
            <a:ext cx="7199086" cy="4421075"/>
          </a:xfrm>
          <a:prstGeom prst="rect">
            <a:avLst/>
          </a:prstGeom>
        </p:spPr>
      </p:pic>
      <p:sp>
        <p:nvSpPr>
          <p:cNvPr id="8" name="文本框 7"/>
          <p:cNvSpPr txBox="1"/>
          <p:nvPr/>
        </p:nvSpPr>
        <p:spPr>
          <a:xfrm>
            <a:off x="266700" y="1387921"/>
            <a:ext cx="12077700" cy="923330"/>
          </a:xfrm>
          <a:prstGeom prst="rect">
            <a:avLst/>
          </a:prstGeom>
          <a:noFill/>
        </p:spPr>
        <p:txBody>
          <a:bodyPr wrap="square">
            <a:spAutoFit/>
          </a:bodyPr>
          <a:lstStyle/>
          <a:p>
            <a:r>
              <a:rPr lang="zh-CN" altLang="en-US" dirty="0"/>
              <a:t>这里做的事情就是记录经过的时间，如果时间达到了我们设定的间隔，则触发</a:t>
            </a:r>
            <a:r>
              <a:rPr lang="en-US" altLang="zh-CN" dirty="0"/>
              <a:t>alarm</a:t>
            </a:r>
            <a:r>
              <a:rPr lang="zh-CN" altLang="en-US" dirty="0"/>
              <a:t>响应过程。首先将</a:t>
            </a:r>
            <a:r>
              <a:rPr lang="en-US" altLang="zh-CN" dirty="0" err="1"/>
              <a:t>trapframe</a:t>
            </a:r>
            <a:r>
              <a:rPr lang="zh-CN" altLang="en-US" dirty="0"/>
              <a:t>完全保存，然后设置</a:t>
            </a:r>
            <a:r>
              <a:rPr lang="en-US" altLang="zh-CN" dirty="0" err="1"/>
              <a:t>trapframe</a:t>
            </a:r>
            <a:r>
              <a:rPr lang="zh-CN" altLang="en-US" dirty="0"/>
              <a:t>中的</a:t>
            </a:r>
            <a:r>
              <a:rPr lang="en-US" altLang="zh-CN" dirty="0" err="1"/>
              <a:t>epc</a:t>
            </a:r>
            <a:r>
              <a:rPr lang="zh-CN" altLang="en-US" dirty="0"/>
              <a:t>寄存器的值设置为</a:t>
            </a:r>
            <a:r>
              <a:rPr lang="en-US" altLang="zh-CN" dirty="0"/>
              <a:t>handler</a:t>
            </a:r>
            <a:r>
              <a:rPr lang="zh-CN" altLang="en-US" dirty="0"/>
              <a:t>的虚拟地址，使其可以经由</a:t>
            </a:r>
            <a:r>
              <a:rPr lang="en-US" altLang="zh-CN" dirty="0" err="1"/>
              <a:t>usertrapret</a:t>
            </a:r>
            <a:r>
              <a:rPr lang="zh-CN" altLang="en-US" dirty="0"/>
              <a:t>返回到用户态下的</a:t>
            </a:r>
            <a:r>
              <a:rPr lang="en-US" altLang="zh-CN" dirty="0"/>
              <a:t>handler</a:t>
            </a:r>
            <a:r>
              <a:rPr lang="zh-CN" altLang="en-US" dirty="0"/>
              <a:t>函数中去。此外还要设置标志位</a:t>
            </a:r>
            <a:r>
              <a:rPr lang="en-US" altLang="zh-CN" dirty="0" err="1"/>
              <a:t>InHandler</a:t>
            </a:r>
            <a:r>
              <a:rPr lang="zh-CN" altLang="en-US" dirty="0"/>
              <a:t>，这可以避免重入</a:t>
            </a:r>
            <a:r>
              <a:rPr lang="en-US" altLang="zh-CN" dirty="0"/>
              <a:t>(re-enter)handler</a:t>
            </a:r>
            <a:r>
              <a:rPr lang="zh-CN" altLang="en-US" dirty="0"/>
              <a:t>而造成的错误。</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sigreturn</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函数实现</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经过我们的设置，现在回到了上图中的③，在这里会执行一些用户定义的动作，并在最后执行</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系统调用，于是操作系统再次陷入内核态，经过</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usertrap</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的转发</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上图中的④</a:t>
            </a:r>
            <a:r>
              <a:rPr kumimoji="0" lang="en-US" altLang="zh-CN"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之后进入内核的</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系统调用，</a:t>
            </a:r>
            <a:r>
              <a:rPr kumimoji="0" lang="en-US" altLang="zh-CN" sz="180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sys_sigreturn</a:t>
            </a:r>
            <a:r>
              <a:rPr kumimoji="0" lang="zh-CN" altLang="en-US" sz="18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的实现非常简单，只是简单的恢复现场并重置计数器，如上图中的⑤所示，给出我的代码实现和注释：</a:t>
            </a: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378828" y="2897747"/>
            <a:ext cx="8733615" cy="3575625"/>
          </a:xfrm>
          <a:prstGeom prst="rect">
            <a:avLst/>
          </a:prstGeom>
        </p:spPr>
      </p:pic>
      <p:sp>
        <p:nvSpPr>
          <p:cNvPr id="8" name="文本框 7"/>
          <p:cNvSpPr txBox="1"/>
          <p:nvPr/>
        </p:nvSpPr>
        <p:spPr>
          <a:xfrm>
            <a:off x="9250329" y="3073400"/>
            <a:ext cx="2854585" cy="2862322"/>
          </a:xfrm>
          <a:prstGeom prst="rect">
            <a:avLst/>
          </a:prstGeom>
          <a:noFill/>
        </p:spPr>
        <p:txBody>
          <a:bodyPr wrap="square">
            <a:spAutoFit/>
          </a:bodyPr>
          <a:lstStyle/>
          <a:p>
            <a:r>
              <a:rPr lang="zh-CN" altLang="en-US" dirty="0"/>
              <a:t>在这里我们恢复了最早程序在执行用户态程序时的现场，并将计时器和标志全部初始化，这样进程就可以成果响应下一次</a:t>
            </a:r>
            <a:r>
              <a:rPr lang="en-US" altLang="zh-CN" dirty="0"/>
              <a:t>alarm</a:t>
            </a:r>
            <a:r>
              <a:rPr lang="zh-CN" altLang="en-US" dirty="0"/>
              <a:t>了</a:t>
            </a:r>
            <a:r>
              <a:rPr lang="en-US" altLang="zh-CN" dirty="0"/>
              <a:t>:)</a:t>
            </a:r>
            <a:r>
              <a:rPr lang="zh-CN" altLang="en-US" dirty="0"/>
              <a:t>，接下来经过</a:t>
            </a:r>
            <a:r>
              <a:rPr lang="en-US" altLang="zh-CN" dirty="0" err="1"/>
              <a:t>usertrapret</a:t>
            </a:r>
            <a:r>
              <a:rPr lang="zh-CN" altLang="en-US" dirty="0"/>
              <a:t>的恢复，现在进程又回到了最早的程序中，且现场没有受到任何影响，如图中的⑥所示</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2242800" cy="6019800"/>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执行测试</a:t>
            </a:r>
            <a:endParaRPr kumimoji="0" lang="en-US"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a:solidFill>
                  <a:srgbClr val="002060"/>
                </a:solidFill>
                <a:sym typeface="+mn-ea"/>
              </a:rPr>
              <a:t>实验内容</a:t>
            </a:r>
            <a:r>
              <a:rPr lang="en-US" altLang="zh-CN">
                <a:solidFill>
                  <a:srgbClr val="002060"/>
                </a:solidFill>
                <a:sym typeface="+mn-ea"/>
              </a:rPr>
              <a:t>—</a:t>
            </a:r>
            <a:r>
              <a:rPr lang="zh-CN" altLang="en-US">
                <a:solidFill>
                  <a:srgbClr val="002060"/>
                </a:solidFill>
                <a:sym typeface="+mn-ea"/>
              </a:rPr>
              <a:t>任务</a:t>
            </a:r>
            <a:r>
              <a:rPr lang="en-US" altLang="zh-CN">
                <a:solidFill>
                  <a:srgbClr val="002060"/>
                </a:solidFill>
                <a:sym typeface="+mn-ea"/>
              </a:rPr>
              <a:t>3</a:t>
            </a:r>
            <a:r>
              <a:rPr lang="zh-CN" altLang="en-US">
                <a:solidFill>
                  <a:srgbClr val="002060"/>
                </a:solidFill>
                <a:sym typeface="+mn-ea"/>
              </a:rPr>
              <a:t>：</a:t>
            </a:r>
            <a:r>
              <a:rPr lang="en-US" altLang="zh-CN">
                <a:solidFill>
                  <a:srgbClr val="002060"/>
                </a:solidFill>
                <a:sym typeface="+mn-ea"/>
              </a:rPr>
              <a:t> Alarm</a:t>
            </a:r>
            <a:endParaRPr lang="zh-CN" altLang="en-US" dirty="0">
              <a:solidFill>
                <a:srgbClr val="002060"/>
              </a:solidFill>
              <a:sym typeface="+mn-ea"/>
            </a:endParaRPr>
          </a:p>
        </p:txBody>
      </p:sp>
      <p:pic>
        <p:nvPicPr>
          <p:cNvPr id="5" name="图片 4"/>
          <p:cNvPicPr>
            <a:picLocks noChangeAspect="1"/>
          </p:cNvPicPr>
          <p:nvPr/>
        </p:nvPicPr>
        <p:blipFill>
          <a:blip r:embed="rId3"/>
          <a:stretch>
            <a:fillRect/>
          </a:stretch>
        </p:blipFill>
        <p:spPr>
          <a:xfrm>
            <a:off x="247150" y="1472115"/>
            <a:ext cx="5205078" cy="4751970"/>
          </a:xfrm>
          <a:prstGeom prst="rect">
            <a:avLst/>
          </a:prstGeom>
        </p:spPr>
      </p:pic>
      <p:pic>
        <p:nvPicPr>
          <p:cNvPr id="8" name="图片 7"/>
          <p:cNvPicPr>
            <a:picLocks noChangeAspect="1"/>
          </p:cNvPicPr>
          <p:nvPr/>
        </p:nvPicPr>
        <p:blipFill>
          <a:blip r:embed="rId4"/>
          <a:stretch>
            <a:fillRect/>
          </a:stretch>
        </p:blipFill>
        <p:spPr>
          <a:xfrm>
            <a:off x="5410150" y="2626733"/>
            <a:ext cx="6781850" cy="315756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311255" cy="5795010"/>
          </a:xfrm>
        </p:spPr>
        <p:txBody>
          <a:bodyPr/>
          <a:lstStyle/>
          <a:p>
            <a:pPr lvl="0" indent="0" algn="l">
              <a:lnSpc>
                <a:spcPct val="150000"/>
              </a:lnSpc>
              <a:buNone/>
            </a:pPr>
            <a:r>
              <a:rPr lang="zh-CN" altLang="en-US" sz="2400" b="1" dirty="0">
                <a:solidFill>
                  <a:srgbClr val="990000"/>
                </a:solidFill>
              </a:rPr>
              <a:t>任务一：</a:t>
            </a:r>
            <a:r>
              <a:rPr lang="en-US" altLang="zh-CN" sz="2400" b="1" dirty="0">
                <a:solidFill>
                  <a:srgbClr val="990000"/>
                </a:solidFill>
              </a:rPr>
              <a:t>RISC-V 汇编</a:t>
            </a:r>
            <a:r>
              <a:rPr lang="en-US" altLang="zh-CN" sz="2400" dirty="0">
                <a:solidFill>
                  <a:srgbClr val="990000"/>
                </a:solidFill>
              </a:rPr>
              <a:t> </a:t>
            </a:r>
          </a:p>
          <a:p>
            <a:pPr lvl="0" algn="l">
              <a:lnSpc>
                <a:spcPct val="150000"/>
              </a:lnSpc>
              <a:buFont typeface="Wingdings" panose="05000000000000000000" charset="0"/>
              <a:buChar char="q"/>
            </a:pPr>
            <a:r>
              <a:rPr lang="zh-CN" altLang="en-US" sz="2000" dirty="0">
                <a:sym typeface="+mn-ea"/>
              </a:rPr>
              <a:t>Q1 ：函数的参数存在哪些寄存器中？例如，main函数调用printf时，13存在哪个寄存器中？</a:t>
            </a:r>
          </a:p>
          <a:p>
            <a:pPr lvl="0" algn="l">
              <a:lnSpc>
                <a:spcPct val="150000"/>
              </a:lnSpc>
              <a:buFont typeface="Wingdings" panose="05000000000000000000" charset="0"/>
              <a:buChar char="q"/>
            </a:pPr>
            <a:r>
              <a:rPr lang="zh-CN" altLang="en-US" sz="2000" dirty="0">
                <a:sym typeface="+mn-ea"/>
              </a:rPr>
              <a:t>Q2 ：在main的汇编代码中，函数f的调用在哪里？函数g的调用在哪里？</a:t>
            </a:r>
          </a:p>
          <a:p>
            <a:pPr lvl="0" indent="0" algn="l">
              <a:lnSpc>
                <a:spcPct val="150000"/>
              </a:lnSpc>
              <a:buFont typeface="Wingdings" panose="05000000000000000000" charset="0"/>
              <a:buNone/>
            </a:pPr>
            <a:r>
              <a:rPr lang="en-US" altLang="zh-CN" sz="2000" dirty="0">
                <a:sym typeface="+mn-ea"/>
              </a:rPr>
              <a:t>           </a:t>
            </a:r>
            <a:r>
              <a:rPr lang="zh-CN" altLang="en-US" sz="2000" dirty="0">
                <a:sym typeface="+mn-ea"/>
              </a:rPr>
              <a:t>（提示：编译器可能会内联函数。）</a:t>
            </a:r>
          </a:p>
          <a:p>
            <a:pPr lvl="0" algn="l">
              <a:lnSpc>
                <a:spcPct val="150000"/>
              </a:lnSpc>
              <a:buFont typeface="Wingdings" panose="05000000000000000000" charset="0"/>
              <a:buChar char="q"/>
            </a:pPr>
            <a:r>
              <a:rPr lang="zh-CN" altLang="en-US" sz="2000" dirty="0">
                <a:sym typeface="+mn-ea"/>
              </a:rPr>
              <a:t>Q3：在main中执行 jalr 跳转到 printf 之后，寄存器ra中的值是什么？</a:t>
            </a:r>
          </a:p>
          <a:p>
            <a:pPr lvl="0" algn="l">
              <a:lnSpc>
                <a:spcPct val="150000"/>
              </a:lnSpc>
              <a:buFont typeface="Wingdings" panose="05000000000000000000" charset="0"/>
              <a:buChar char="q"/>
            </a:pPr>
            <a:r>
              <a:rPr lang="zh-CN" altLang="en-US" sz="2000" dirty="0">
                <a:sym typeface="+mn-ea"/>
              </a:rPr>
              <a:t>Q4：在以下代码中，y=之后将会打印什么？</a:t>
            </a:r>
          </a:p>
          <a:p>
            <a:pPr lvl="0" indent="457200" algn="l">
              <a:lnSpc>
                <a:spcPct val="150000"/>
              </a:lnSpc>
              <a:buFont typeface="Wingdings" panose="05000000000000000000" charset="0"/>
              <a:buNone/>
            </a:pPr>
            <a:r>
              <a:rPr lang="en-US" altLang="zh-CN" sz="2000" dirty="0">
                <a:sym typeface="+mn-ea"/>
              </a:rPr>
              <a:t>      </a:t>
            </a:r>
            <a:r>
              <a:rPr lang="zh-CN" altLang="en-US" sz="2000" dirty="0">
                <a:sym typeface="+mn-ea"/>
              </a:rPr>
              <a:t>为什么会发生这种情况？（注意：答案不是一个具体的值。）</a:t>
            </a:r>
          </a:p>
          <a:p>
            <a:pPr lvl="0" indent="0" algn="ctr">
              <a:lnSpc>
                <a:spcPct val="150000"/>
              </a:lnSpc>
              <a:buFont typeface="Wingdings" panose="05000000000000000000" charset="0"/>
              <a:buNone/>
            </a:pPr>
            <a:r>
              <a:rPr lang="zh-CN" altLang="en-US" sz="2000" dirty="0">
                <a:sym typeface="+mn-ea"/>
              </a:rPr>
              <a:t>printf("x=%d y=%d", 3);</a:t>
            </a:r>
          </a:p>
          <a:p>
            <a:pPr lvl="0" indent="0" algn="l">
              <a:lnSpc>
                <a:spcPct val="150000"/>
              </a:lnSpc>
              <a:buFont typeface="Wingdings" panose="05000000000000000000" charset="0"/>
              <a:buNone/>
            </a:pPr>
            <a:endParaRPr lang="zh-CN" altLang="en-US" sz="2000" dirty="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sym typeface="+mn-ea"/>
              </a:rPr>
              <a:t>Backtrace回溯</a:t>
            </a:r>
            <a:endParaRPr lang="en-US" altLang="zh-CN" sz="2400" b="1" dirty="0">
              <a:solidFill>
                <a:srgbClr val="990000"/>
              </a:solidFill>
            </a:endParaRPr>
          </a:p>
          <a:p>
            <a:pPr lvl="0" algn="l">
              <a:lnSpc>
                <a:spcPct val="150000"/>
              </a:lnSpc>
              <a:buFont typeface="Wingdings" panose="05000000000000000000" charset="0"/>
              <a:buChar char="q"/>
            </a:pPr>
            <a:r>
              <a:rPr sz="2000" dirty="0"/>
              <a:t>Q1：在该实验中，控制台显示的十六进制数代表了什么含义？</a:t>
            </a:r>
          </a:p>
          <a:p>
            <a:pPr lvl="0" indent="0" algn="l">
              <a:lnSpc>
                <a:spcPct val="150000"/>
              </a:lnSpc>
              <a:buFont typeface="Wingdings" panose="05000000000000000000" charset="0"/>
              <a:buNone/>
            </a:pPr>
            <a:r>
              <a:rPr lang="en-US" sz="2000" dirty="0"/>
              <a:t>            </a:t>
            </a:r>
            <a:r>
              <a:rPr sz="2000" dirty="0"/>
              <a:t>运行 addr2line -e kernel/kernel后输出的代码又表示什么？</a:t>
            </a:r>
          </a:p>
          <a:p>
            <a:pPr lvl="0" algn="l">
              <a:lnSpc>
                <a:spcPct val="150000"/>
              </a:lnSpc>
              <a:buFont typeface="Wingdings" panose="05000000000000000000" charset="0"/>
              <a:buChar char="q"/>
            </a:pPr>
            <a:r>
              <a:rPr sz="2000" dirty="0"/>
              <a:t>Q2：我们在panic和sys_sleep函数中调用了backtrace()，这样做在操作系统中有什么意义？</a:t>
            </a:r>
          </a:p>
          <a:p>
            <a:pPr lvl="0" indent="0" algn="l">
              <a:lnSpc>
                <a:spcPct val="150000"/>
              </a:lnSpc>
              <a:buFont typeface="Wingdings" panose="05000000000000000000" charset="0"/>
              <a:buNone/>
            </a:pPr>
            <a:r>
              <a:rPr lang="en-US" sz="2000" dirty="0"/>
              <a:t>            </a:t>
            </a:r>
            <a:r>
              <a:rPr sz="2000" dirty="0"/>
              <a:t>由此，你可以得到backtrace()的使用价值吗？</a:t>
            </a:r>
          </a:p>
          <a:p>
            <a:pPr lvl="1" indent="0" algn="l">
              <a:lnSpc>
                <a:spcPct val="150000"/>
              </a:lnSpc>
              <a:buFont typeface="Wingdings" panose="05000000000000000000" charset="0"/>
              <a:buNone/>
            </a:pPr>
            <a:endParaRPr lang="zh-CN" altLang="en-US" sz="171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实验内容</a:t>
            </a:r>
          </a:p>
        </p:txBody>
      </p:sp>
      <p:sp>
        <p:nvSpPr>
          <p:cNvPr id="4" name="内容占位符 3"/>
          <p:cNvSpPr>
            <a:spLocks noGrp="1"/>
          </p:cNvSpPr>
          <p:nvPr>
            <p:ph idx="1"/>
          </p:nvPr>
        </p:nvSpPr>
        <p:spPr>
          <a:xfrm>
            <a:off x="221615" y="910590"/>
            <a:ext cx="11501755" cy="5795010"/>
          </a:xfrm>
        </p:spPr>
        <p:txBody>
          <a:bodyPr/>
          <a:lstStyle/>
          <a:p>
            <a:pPr lvl="0" indent="0" algn="l">
              <a:lnSpc>
                <a:spcPct val="150000"/>
              </a:lnSpc>
              <a:buNone/>
            </a:pPr>
            <a:r>
              <a:rPr lang="zh-CN" altLang="en-US" sz="2400" b="1" dirty="0">
                <a:solidFill>
                  <a:srgbClr val="990000"/>
                </a:solidFill>
              </a:rPr>
              <a:t>任务三：Alarm警报</a:t>
            </a:r>
          </a:p>
          <a:p>
            <a:pPr lvl="0" algn="l">
              <a:lnSpc>
                <a:spcPct val="150000"/>
              </a:lnSpc>
              <a:buFont typeface="Wingdings" panose="05000000000000000000" charset="0"/>
              <a:buChar char="q"/>
            </a:pPr>
            <a:r>
              <a:rPr lang="en-US" altLang="zh-CN" sz="2000" dirty="0"/>
              <a:t>Q1：什么是 sigalarm 和 sigreturn 系统调用？</a:t>
            </a:r>
          </a:p>
          <a:p>
            <a:pPr lvl="0" indent="0" algn="l">
              <a:lnSpc>
                <a:spcPct val="150000"/>
              </a:lnSpc>
              <a:buFont typeface="Wingdings" panose="05000000000000000000" charset="0"/>
              <a:buNone/>
            </a:pPr>
            <a:r>
              <a:rPr lang="en-US" altLang="zh-CN" sz="2000" dirty="0"/>
              <a:t>            它们的作用是什么？</a:t>
            </a:r>
          </a:p>
          <a:p>
            <a:pPr lvl="0" algn="l">
              <a:lnSpc>
                <a:spcPct val="150000"/>
              </a:lnSpc>
              <a:buFont typeface="Wingdings" panose="05000000000000000000" charset="0"/>
              <a:buChar char="q"/>
            </a:pPr>
            <a:r>
              <a:rPr lang="en-US" altLang="zh-CN" sz="2000" dirty="0"/>
              <a:t>Q2：为什么在 trap.c 中的 usertrap 函数中，必须在修改 epc 之前备份 trapframe？</a:t>
            </a:r>
          </a:p>
          <a:p>
            <a:pPr lvl="0" algn="l">
              <a:lnSpc>
                <a:spcPct val="150000"/>
              </a:lnSpc>
              <a:buFont typeface="Wingdings" panose="05000000000000000000" charset="0"/>
              <a:buChar char="q"/>
            </a:pPr>
            <a:endParaRPr lang="en-US"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61962" y="838200"/>
            <a:ext cx="11268075" cy="6019800"/>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懒分配</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进程空间 </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虚拟内存管理 </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Eliminate allocation from </a:t>
            </a: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sbrk</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p>
          <a:p>
            <a:pPr marL="1371600" lvl="1" indent="-457200">
              <a:lnSpc>
                <a:spcPct val="150000"/>
              </a:lnSpc>
              <a:spcBef>
                <a:spcPts val="500"/>
              </a:spcBef>
              <a:buFont typeface="Wingdings" panose="05000000000000000000" pitchFamily="2" charset="2"/>
              <a:buChar char="q"/>
            </a:pP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Lazy allocation</a:t>
            </a:r>
          </a:p>
          <a:p>
            <a:pPr marL="1371600" lvl="1" indent="-457200">
              <a:lnSpc>
                <a:spcPct val="150000"/>
              </a:lnSpc>
              <a:spcBef>
                <a:spcPts val="500"/>
              </a:spcBef>
              <a:buFont typeface="Wingdings" panose="05000000000000000000" pitchFamily="2" charset="2"/>
              <a:buChar char="q"/>
            </a:pP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Lazytests</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 and </a:t>
            </a:r>
            <a:r>
              <a:rPr lang="en-US" altLang="zh-CN" b="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Usertests</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3" name="标题 2"/>
          <p:cNvSpPr>
            <a:spLocks noGrp="1"/>
          </p:cNvSpPr>
          <p:nvPr>
            <p:ph type="title"/>
          </p:nvPr>
        </p:nvSpPr>
        <p:spPr/>
        <p:txBody>
          <a:bodyPr anchor="ctr"/>
          <a:lstStyle/>
          <a:p>
            <a:r>
              <a:rPr lang="zh-CN" altLang="en-US" dirty="0">
                <a:solidFill>
                  <a:srgbClr val="002060"/>
                </a:solidFill>
              </a:rPr>
              <a:t>实验二：</a:t>
            </a:r>
            <a:r>
              <a:rPr lang="en-US" altLang="zh-CN" dirty="0">
                <a:solidFill>
                  <a:srgbClr val="002060"/>
                </a:solidFill>
              </a:rPr>
              <a:t>Lazy Page Allocation</a:t>
            </a:r>
            <a:r>
              <a:rPr lang="zh-CN" altLang="en-US" dirty="0">
                <a:solidFill>
                  <a:srgbClr val="002060"/>
                </a:solidFill>
              </a:rPr>
              <a:t>（懒分配）</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懒分配模式</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计算机中运行着很多进程，进程会提出内存分配申请。如果进程一提出内存申请，计算机就满足这一申请为它分配物理内存页，则称为 </a:t>
            </a:r>
            <a:r>
              <a:rPr lang="en-US" altLang="zh-CN" sz="1800" dirty="0">
                <a:solidFill>
                  <a:schemeClr val="tx1"/>
                </a:solidFill>
                <a:latin typeface="+mn-lt"/>
                <a:ea typeface="+mn-ea"/>
              </a:rPr>
              <a:t>Eager Allocation </a:t>
            </a:r>
            <a:r>
              <a:rPr lang="zh-CN" altLang="en-US" sz="1800" dirty="0">
                <a:solidFill>
                  <a:schemeClr val="tx1"/>
                </a:solidFill>
                <a:latin typeface="+mn-lt"/>
                <a:ea typeface="+mn-ea"/>
              </a:rPr>
              <a:t>即即时分配。然而，如果计算机为进程分配内存时，只增大进程的内存空间字段值，但并不立即进行实际的物理内存页分配；之后当该内存段确实需要使用时，会因找不到内存页，产生缺页中断（</a:t>
            </a:r>
            <a:r>
              <a:rPr lang="en-US" altLang="zh-CN" sz="1800" dirty="0">
                <a:solidFill>
                  <a:schemeClr val="tx1"/>
                </a:solidFill>
                <a:latin typeface="+mn-lt"/>
                <a:ea typeface="+mn-ea"/>
              </a:rPr>
              <a:t>page fault interrupt</a:t>
            </a:r>
            <a:r>
              <a:rPr lang="zh-CN" altLang="en-US" sz="1800" dirty="0">
                <a:solidFill>
                  <a:schemeClr val="tx1"/>
                </a:solidFill>
                <a:latin typeface="+mn-lt"/>
                <a:ea typeface="+mn-ea"/>
              </a:rPr>
              <a:t>），这时再进行物理内存的分配，这一分配方式便是 </a:t>
            </a:r>
            <a:r>
              <a:rPr lang="en-US" altLang="zh-CN" sz="1800" dirty="0">
                <a:solidFill>
                  <a:schemeClr val="tx1"/>
                </a:solidFill>
                <a:latin typeface="+mn-lt"/>
                <a:ea typeface="+mn-ea"/>
              </a:rPr>
              <a:t>Lazy Allocation </a:t>
            </a:r>
            <a:r>
              <a:rPr lang="zh-CN" altLang="en-US" sz="1800" dirty="0">
                <a:solidFill>
                  <a:schemeClr val="tx1"/>
                </a:solidFill>
                <a:latin typeface="+mn-lt"/>
                <a:ea typeface="+mn-ea"/>
              </a:rPr>
              <a:t>即懒分配。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进程空间</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进程创建时，首先为可执行程序分配代码段（</a:t>
            </a:r>
            <a:r>
              <a:rPr lang="en-US" altLang="zh-CN" sz="1800" dirty="0">
                <a:solidFill>
                  <a:schemeClr val="tx1"/>
                </a:solidFill>
                <a:latin typeface="+mn-lt"/>
                <a:ea typeface="+mn-ea"/>
              </a:rPr>
              <a:t>text</a:t>
            </a:r>
            <a:r>
              <a:rPr lang="zh-CN" altLang="en-US" sz="1800" dirty="0">
                <a:solidFill>
                  <a:schemeClr val="tx1"/>
                </a:solidFill>
                <a:latin typeface="+mn-lt"/>
                <a:ea typeface="+mn-ea"/>
              </a:rPr>
              <a:t>）和数据段（</a:t>
            </a:r>
            <a:r>
              <a:rPr lang="en-US" altLang="zh-CN" sz="1800" dirty="0">
                <a:solidFill>
                  <a:schemeClr val="tx1"/>
                </a:solidFill>
                <a:latin typeface="+mn-lt"/>
                <a:ea typeface="+mn-ea"/>
              </a:rPr>
              <a:t>data</a:t>
            </a:r>
            <a:r>
              <a:rPr lang="zh-CN" altLang="en-US" sz="1800" dirty="0">
                <a:solidFill>
                  <a:schemeClr val="tx1"/>
                </a:solidFill>
                <a:latin typeface="+mn-lt"/>
                <a:ea typeface="+mn-ea"/>
              </a:rPr>
              <a:t>），然后分配一个无效的页 </a:t>
            </a:r>
            <a:r>
              <a:rPr lang="en-US" altLang="zh-CN" sz="1800" dirty="0">
                <a:solidFill>
                  <a:schemeClr val="tx1"/>
                </a:solidFill>
                <a:latin typeface="+mn-lt"/>
                <a:ea typeface="+mn-ea"/>
              </a:rPr>
              <a:t>guard page </a:t>
            </a:r>
            <a:r>
              <a:rPr lang="zh-CN" altLang="en-US" sz="1800" dirty="0">
                <a:solidFill>
                  <a:schemeClr val="tx1"/>
                </a:solidFill>
                <a:latin typeface="+mn-lt"/>
                <a:ea typeface="+mn-ea"/>
              </a:rPr>
              <a:t>用于防止栈溢出。接下来分配进程用户空间栈，</a:t>
            </a:r>
            <a:r>
              <a:rPr lang="en-US" altLang="zh-CN" sz="1800" dirty="0">
                <a:solidFill>
                  <a:schemeClr val="tx1"/>
                </a:solidFill>
                <a:latin typeface="+mn-lt"/>
                <a:ea typeface="+mn-ea"/>
              </a:rPr>
              <a:t>xv6 </a:t>
            </a:r>
            <a:r>
              <a:rPr lang="zh-CN" altLang="en-US" sz="1800" dirty="0">
                <a:solidFill>
                  <a:schemeClr val="tx1"/>
                </a:solidFill>
                <a:latin typeface="+mn-lt"/>
                <a:ea typeface="+mn-ea"/>
              </a:rPr>
              <a:t>栈的大小是</a:t>
            </a:r>
            <a:r>
              <a:rPr lang="en-US" altLang="zh-CN" sz="1800" dirty="0">
                <a:solidFill>
                  <a:schemeClr val="tx1"/>
                </a:solidFill>
                <a:latin typeface="+mn-lt"/>
                <a:ea typeface="+mn-ea"/>
              </a:rPr>
              <a:t>4096B</a:t>
            </a:r>
            <a:r>
              <a:rPr lang="zh-CN" altLang="en-US" sz="1800" dirty="0">
                <a:solidFill>
                  <a:schemeClr val="tx1"/>
                </a:solidFill>
                <a:latin typeface="+mn-lt"/>
                <a:ea typeface="+mn-ea"/>
              </a:rPr>
              <a:t>，刚好对应一页内存。值得注意的是，栈的生长方向是向下的，</a:t>
            </a:r>
            <a:r>
              <a:rPr lang="en-US" altLang="zh-CN" sz="1800" dirty="0" err="1">
                <a:solidFill>
                  <a:schemeClr val="tx1"/>
                </a:solidFill>
                <a:latin typeface="+mn-lt"/>
                <a:ea typeface="+mn-ea"/>
              </a:rPr>
              <a:t>sp</a:t>
            </a:r>
            <a:r>
              <a:rPr lang="en-US" altLang="zh-CN" sz="1800" dirty="0">
                <a:solidFill>
                  <a:schemeClr val="tx1"/>
                </a:solidFill>
                <a:latin typeface="+mn-lt"/>
                <a:ea typeface="+mn-ea"/>
              </a:rPr>
              <a:t> </a:t>
            </a:r>
            <a:r>
              <a:rPr lang="zh-CN" altLang="en-US" sz="1800" dirty="0">
                <a:solidFill>
                  <a:schemeClr val="tx1"/>
                </a:solidFill>
                <a:latin typeface="+mn-lt"/>
                <a:ea typeface="+mn-ea"/>
              </a:rPr>
              <a:t>是栈指针，初始时指向栈底，即大的地址位置。在栈生长时，栈指针（</a:t>
            </a:r>
            <a:r>
              <a:rPr lang="en-US" altLang="zh-CN" sz="1800" dirty="0" err="1">
                <a:solidFill>
                  <a:schemeClr val="tx1"/>
                </a:solidFill>
                <a:latin typeface="+mn-lt"/>
                <a:ea typeface="+mn-ea"/>
              </a:rPr>
              <a:t>sp</a:t>
            </a:r>
            <a:r>
              <a:rPr lang="zh-CN" altLang="en-US" sz="1800" dirty="0">
                <a:solidFill>
                  <a:schemeClr val="tx1"/>
                </a:solidFill>
                <a:latin typeface="+mn-lt"/>
                <a:ea typeface="+mn-ea"/>
              </a:rPr>
              <a:t>）减小。栈的上面是堆（</a:t>
            </a:r>
            <a:r>
              <a:rPr lang="en-US" altLang="zh-CN" sz="1800" dirty="0">
                <a:solidFill>
                  <a:schemeClr val="tx1"/>
                </a:solidFill>
                <a:latin typeface="+mn-lt"/>
                <a:ea typeface="+mn-ea"/>
              </a:rPr>
              <a:t>heap</a:t>
            </a:r>
            <a:r>
              <a:rPr lang="zh-CN" altLang="en-US" sz="1800" dirty="0">
                <a:solidFill>
                  <a:schemeClr val="tx1"/>
                </a:solidFill>
                <a:latin typeface="+mn-lt"/>
                <a:ea typeface="+mn-ea"/>
              </a:rPr>
              <a:t>），堆的大小是动态分配的，进程初始化时，堆大小为 </a:t>
            </a:r>
            <a:r>
              <a:rPr lang="en-US" altLang="zh-CN" sz="1800" dirty="0">
                <a:solidFill>
                  <a:schemeClr val="tx1"/>
                </a:solidFill>
                <a:latin typeface="+mn-lt"/>
                <a:ea typeface="+mn-ea"/>
              </a:rPr>
              <a:t>0</a:t>
            </a:r>
            <a:r>
              <a:rPr lang="zh-CN" altLang="en-US" sz="1800" dirty="0">
                <a:solidFill>
                  <a:schemeClr val="tx1"/>
                </a:solidFill>
                <a:latin typeface="+mn-lt"/>
                <a:ea typeface="+mn-ea"/>
              </a:rPr>
              <a:t>，</a:t>
            </a:r>
            <a:r>
              <a:rPr lang="en-US" altLang="zh-CN" sz="1800" dirty="0">
                <a:solidFill>
                  <a:schemeClr val="tx1"/>
                </a:solidFill>
                <a:latin typeface="+mn-lt"/>
                <a:ea typeface="+mn-ea"/>
              </a:rPr>
              <a:t>p-&gt;</a:t>
            </a:r>
            <a:r>
              <a:rPr lang="en-US" altLang="zh-CN" sz="1800" dirty="0" err="1">
                <a:solidFill>
                  <a:schemeClr val="tx1"/>
                </a:solidFill>
                <a:latin typeface="+mn-lt"/>
                <a:ea typeface="+mn-ea"/>
              </a:rPr>
              <a:t>sz</a:t>
            </a:r>
            <a:r>
              <a:rPr lang="en-US" altLang="zh-CN" sz="1800" dirty="0">
                <a:solidFill>
                  <a:schemeClr val="tx1"/>
                </a:solidFill>
                <a:latin typeface="+mn-lt"/>
                <a:ea typeface="+mn-ea"/>
              </a:rPr>
              <a:t> </a:t>
            </a:r>
            <a:r>
              <a:rPr lang="zh-CN" altLang="en-US" sz="1800" dirty="0">
                <a:solidFill>
                  <a:schemeClr val="tx1"/>
                </a:solidFill>
                <a:latin typeface="+mn-lt"/>
                <a:ea typeface="+mn-ea"/>
              </a:rPr>
              <a:t>指针指向栈底位置。</a:t>
            </a:r>
          </a:p>
        </p:txBody>
      </p:sp>
      <p:pic>
        <p:nvPicPr>
          <p:cNvPr id="7" name="图片 6"/>
          <p:cNvPicPr>
            <a:picLocks noChangeAspect="1"/>
          </p:cNvPicPr>
          <p:nvPr/>
        </p:nvPicPr>
        <p:blipFill>
          <a:blip r:embed="rId2"/>
          <a:stretch>
            <a:fillRect/>
          </a:stretch>
        </p:blipFill>
        <p:spPr>
          <a:xfrm>
            <a:off x="2910254" y="2693779"/>
            <a:ext cx="6246889" cy="3304339"/>
          </a:xfrm>
          <a:prstGeom prst="rect">
            <a:avLst/>
          </a:prstGeom>
        </p:spPr>
      </p:pic>
      <p:sp>
        <p:nvSpPr>
          <p:cNvPr id="8" name="文本框 7"/>
          <p:cNvSpPr txBox="1"/>
          <p:nvPr/>
        </p:nvSpPr>
        <p:spPr>
          <a:xfrm>
            <a:off x="220459" y="5934670"/>
            <a:ext cx="11869614" cy="923330"/>
          </a:xfrm>
          <a:prstGeom prst="rect">
            <a:avLst/>
          </a:prstGeom>
          <a:noFill/>
        </p:spPr>
        <p:txBody>
          <a:bodyPr wrap="square">
            <a:spAutoFit/>
          </a:bodyPr>
          <a:lstStyle/>
          <a:p>
            <a:r>
              <a:rPr lang="zh-CN" altLang="en-US" dirty="0"/>
              <a:t>  每个进程有独立的虚拟地址空间，进程访问的虚拟地址并不是真正的物理地址，但进程可通过自身页表中虚拟地址与物理地址建立的映射获得真正的物理地址。xv6 使用页表分隔不同进程的地址空间，并把它们多路复用到单一的物理内存。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Lazy Page Allocation(</a:t>
            </a:r>
            <a:r>
              <a:rPr lang="zh-CN" altLang="en-US" dirty="0"/>
              <a:t>懒分配</a:t>
            </a:r>
            <a:r>
              <a:rPr lang="en-US" altLang="zh-CN" dirty="0"/>
              <a:t>)</a:t>
            </a:r>
            <a:endParaRPr lang="zh-CN" altLang="en-US" dirty="0"/>
          </a:p>
        </p:txBody>
      </p:sp>
      <p:sp>
        <p:nvSpPr>
          <p:cNvPr id="3" name="内容占位符 2"/>
          <p:cNvSpPr>
            <a:spLocks noGrp="1"/>
          </p:cNvSpPr>
          <p:nvPr>
            <p:ph idx="1"/>
          </p:nvPr>
        </p:nvSpPr>
        <p:spPr>
          <a:xfrm>
            <a:off x="461962" y="932108"/>
            <a:ext cx="11268075" cy="5527675"/>
          </a:xfrm>
        </p:spPr>
        <p:txBody>
          <a:bodyPr/>
          <a:lstStyle/>
          <a:p>
            <a:r>
              <a:rPr kumimoji="1" lang="zh-CN" altLang="en-US" sz="2400" b="1" dirty="0">
                <a:solidFill>
                  <a:srgbClr val="990000"/>
                </a:solidFill>
                <a:latin typeface="微软雅黑" panose="020B0503020204020204" pitchFamily="34" charset="-122"/>
                <a:ea typeface="微软雅黑" panose="020B0503020204020204" pitchFamily="34" charset="-122"/>
              </a:rPr>
              <a:t>虚拟内存管理</a:t>
            </a:r>
            <a:endParaRPr lang="en-US" altLang="zh-CN" sz="1800" dirty="0">
              <a:solidFill>
                <a:schemeClr val="tx1"/>
              </a:solidFill>
            </a:endParaRPr>
          </a:p>
          <a:p>
            <a:pPr marL="0" lvl="1" indent="0" latinLnBrk="0">
              <a:buNone/>
            </a:pPr>
            <a:r>
              <a:rPr lang="zh-CN" altLang="en-US" sz="1800" dirty="0">
                <a:solidFill>
                  <a:schemeClr val="tx1"/>
                </a:solidFill>
                <a:latin typeface="+mn-lt"/>
                <a:ea typeface="+mn-ea"/>
              </a:rPr>
              <a:t>       在 </a:t>
            </a:r>
            <a:r>
              <a:rPr lang="en-US" altLang="zh-CN" sz="1800" dirty="0">
                <a:solidFill>
                  <a:schemeClr val="tx1"/>
                </a:solidFill>
                <a:latin typeface="+mn-lt"/>
                <a:ea typeface="+mn-ea"/>
              </a:rPr>
              <a:t>xv6 </a:t>
            </a:r>
            <a:r>
              <a:rPr lang="zh-CN" altLang="en-US" sz="1800" dirty="0">
                <a:solidFill>
                  <a:schemeClr val="tx1"/>
                </a:solidFill>
                <a:latin typeface="+mn-lt"/>
                <a:ea typeface="+mn-ea"/>
              </a:rPr>
              <a:t>中，用户程序运行和内核程序运行的时候，使用的是不同的页表。</a:t>
            </a:r>
            <a:endParaRPr lang="en-US" altLang="zh-CN" sz="1800" dirty="0">
              <a:solidFill>
                <a:schemeClr val="tx1"/>
              </a:solidFill>
              <a:latin typeface="+mn-lt"/>
              <a:ea typeface="+mn-ea"/>
            </a:endParaRPr>
          </a:p>
          <a:p>
            <a:pPr marL="0" lvl="1" indent="0" latinLnBrk="0">
              <a:buNone/>
            </a:pPr>
            <a:endParaRPr lang="en-US" altLang="zh-CN" sz="1800" dirty="0">
              <a:solidFill>
                <a:schemeClr val="tx1"/>
              </a:solidFill>
              <a:latin typeface="+mn-lt"/>
              <a:ea typeface="+mn-ea"/>
            </a:endParaRPr>
          </a:p>
          <a:p>
            <a:pPr marL="0" lvl="1" indent="0" latinLnBrk="0">
              <a:buNone/>
            </a:pPr>
            <a:r>
              <a:rPr lang="en-US" altLang="zh-CN" sz="1800" dirty="0">
                <a:solidFill>
                  <a:schemeClr val="tx1"/>
                </a:solidFill>
                <a:latin typeface="+mn-lt"/>
                <a:ea typeface="+mn-ea"/>
              </a:rPr>
              <a:t>       xv6 </a:t>
            </a:r>
            <a:r>
              <a:rPr lang="zh-CN" altLang="en-US" sz="1800" dirty="0">
                <a:solidFill>
                  <a:schemeClr val="tx1"/>
                </a:solidFill>
                <a:latin typeface="+mn-lt"/>
                <a:ea typeface="+mn-ea"/>
              </a:rPr>
              <a:t>的两个页表（全局内核页表和用户页表）都是完成虚拟地址到物理地址的映射的记录。但是为了安全，操作系统在内核态当中不能直接访问用户态的地址空间，所以内核态不能直接翻译用户态的虚拟地址，需要遍历用户态的用户页表（在 </a:t>
            </a:r>
            <a:r>
              <a:rPr lang="en-US" altLang="zh-CN" sz="1800" dirty="0">
                <a:solidFill>
                  <a:schemeClr val="tx1"/>
                </a:solidFill>
                <a:latin typeface="+mn-lt"/>
                <a:ea typeface="+mn-ea"/>
              </a:rPr>
              <a:t>PCB </a:t>
            </a:r>
            <a:r>
              <a:rPr lang="zh-CN" altLang="en-US" sz="1800" dirty="0">
                <a:solidFill>
                  <a:schemeClr val="tx1"/>
                </a:solidFill>
                <a:latin typeface="+mn-lt"/>
                <a:ea typeface="+mn-ea"/>
              </a:rPr>
              <a:t>当中），完成虚拟地址（</a:t>
            </a:r>
            <a:r>
              <a:rPr lang="en-US" altLang="zh-CN" sz="1800" dirty="0" err="1">
                <a:solidFill>
                  <a:schemeClr val="tx1"/>
                </a:solidFill>
                <a:latin typeface="+mn-lt"/>
                <a:ea typeface="+mn-ea"/>
              </a:rPr>
              <a:t>va</a:t>
            </a:r>
            <a:r>
              <a:rPr lang="zh-CN" altLang="en-US" sz="1800" dirty="0">
                <a:solidFill>
                  <a:schemeClr val="tx1"/>
                </a:solidFill>
                <a:latin typeface="+mn-lt"/>
                <a:ea typeface="+mn-ea"/>
              </a:rPr>
              <a:t>）到物理地址（</a:t>
            </a:r>
            <a:r>
              <a:rPr lang="en-US" altLang="zh-CN" sz="1800" dirty="0">
                <a:solidFill>
                  <a:schemeClr val="tx1"/>
                </a:solidFill>
                <a:latin typeface="+mn-lt"/>
                <a:ea typeface="+mn-ea"/>
              </a:rPr>
              <a:t>pa</a:t>
            </a:r>
            <a:r>
              <a:rPr lang="zh-CN" altLang="en-US" sz="1800" dirty="0">
                <a:solidFill>
                  <a:schemeClr val="tx1"/>
                </a:solidFill>
                <a:latin typeface="+mn-lt"/>
                <a:ea typeface="+mn-ea"/>
              </a:rPr>
              <a:t>）的转换。 </a:t>
            </a:r>
            <a:endParaRPr lang="en-US" altLang="zh-CN" sz="1800" dirty="0">
              <a:solidFill>
                <a:schemeClr val="tx1"/>
              </a:solidFill>
              <a:latin typeface="+mn-lt"/>
              <a:ea typeface="+mn-ea"/>
            </a:endParaRPr>
          </a:p>
          <a:p>
            <a:pPr marL="0" lvl="1" indent="0" latinLnBrk="0">
              <a:buNone/>
            </a:pPr>
            <a:endParaRPr lang="zh-CN" altLang="en-US" sz="1800" dirty="0">
              <a:solidFill>
                <a:schemeClr val="tx1"/>
              </a:solidFill>
              <a:latin typeface="+mn-lt"/>
              <a:ea typeface="+mn-ea"/>
            </a:endParaRPr>
          </a:p>
          <a:p>
            <a:pPr marL="0" lvl="1" indent="0" latinLnBrk="0">
              <a:buNone/>
            </a:pPr>
            <a:r>
              <a:rPr lang="zh-CN" altLang="en-US" sz="1800" dirty="0">
                <a:solidFill>
                  <a:schemeClr val="tx1"/>
                </a:solidFill>
                <a:latin typeface="+mn-lt"/>
                <a:ea typeface="+mn-ea"/>
              </a:rPr>
              <a:t>    </a:t>
            </a:r>
            <a:endParaRPr lang="en-US" altLang="zh-CN" sz="1800" dirty="0">
              <a:solidFill>
                <a:schemeClr val="tx1"/>
              </a:solidFill>
              <a:latin typeface="+mn-lt"/>
              <a:ea typeface="+mn-ea"/>
            </a:endParaRPr>
          </a:p>
          <a:p>
            <a:pPr marL="0" lvl="1" indent="0" latinLnBrk="0">
              <a:buNone/>
            </a:pPr>
            <a:r>
              <a:rPr lang="en-US" altLang="zh-CN" sz="1800" dirty="0">
                <a:solidFill>
                  <a:schemeClr val="tx1"/>
                </a:solidFill>
                <a:latin typeface="+mn-lt"/>
                <a:ea typeface="+mn-ea"/>
              </a:rPr>
              <a:t>       </a:t>
            </a:r>
            <a:r>
              <a:rPr lang="zh-CN" altLang="en-US" sz="1800" dirty="0">
                <a:solidFill>
                  <a:schemeClr val="tx1"/>
                </a:solidFill>
                <a:latin typeface="+mn-lt"/>
                <a:ea typeface="+mn-ea"/>
              </a:rPr>
              <a:t>用户程序页表仅包含自身的代码和数据的虚实地址映射，内核代码和数据不包含在内。当进程申请更多内存的时候，</a:t>
            </a:r>
            <a:r>
              <a:rPr lang="en-US" altLang="zh-CN" sz="1800" dirty="0">
                <a:solidFill>
                  <a:schemeClr val="tx1"/>
                </a:solidFill>
                <a:latin typeface="+mn-lt"/>
                <a:ea typeface="+mn-ea"/>
              </a:rPr>
              <a:t>xv6 </a:t>
            </a:r>
            <a:r>
              <a:rPr lang="zh-CN" altLang="en-US" sz="1800" dirty="0">
                <a:solidFill>
                  <a:schemeClr val="tx1"/>
                </a:solidFill>
                <a:latin typeface="+mn-lt"/>
                <a:ea typeface="+mn-ea"/>
              </a:rPr>
              <a:t>首先用 </a:t>
            </a:r>
            <a:r>
              <a:rPr lang="en-US" altLang="zh-CN" sz="1800" dirty="0" err="1">
                <a:solidFill>
                  <a:schemeClr val="tx1"/>
                </a:solidFill>
                <a:latin typeface="+mn-lt"/>
                <a:ea typeface="+mn-ea"/>
              </a:rPr>
              <a:t>kalloc</a:t>
            </a:r>
            <a:r>
              <a:rPr lang="en-US" altLang="zh-CN" sz="1800" dirty="0">
                <a:solidFill>
                  <a:schemeClr val="tx1"/>
                </a:solidFill>
                <a:latin typeface="+mn-lt"/>
                <a:ea typeface="+mn-ea"/>
              </a:rPr>
              <a:t> </a:t>
            </a:r>
            <a:r>
              <a:rPr lang="zh-CN" altLang="en-US" sz="1800" dirty="0">
                <a:solidFill>
                  <a:schemeClr val="tx1"/>
                </a:solidFill>
                <a:latin typeface="+mn-lt"/>
                <a:ea typeface="+mn-ea"/>
              </a:rPr>
              <a:t>分配一个物理页。然后调用 </a:t>
            </a:r>
            <a:r>
              <a:rPr lang="en-US" altLang="zh-CN" sz="1800" dirty="0" err="1">
                <a:solidFill>
                  <a:schemeClr val="tx1"/>
                </a:solidFill>
                <a:latin typeface="+mn-lt"/>
                <a:ea typeface="+mn-ea"/>
              </a:rPr>
              <a:t>mappages</a:t>
            </a:r>
            <a:r>
              <a:rPr lang="en-US" altLang="zh-CN" sz="1800" dirty="0">
                <a:solidFill>
                  <a:schemeClr val="tx1"/>
                </a:solidFill>
                <a:latin typeface="+mn-lt"/>
                <a:ea typeface="+mn-ea"/>
              </a:rPr>
              <a:t> </a:t>
            </a:r>
            <a:r>
              <a:rPr lang="zh-CN" altLang="en-US" sz="1800" dirty="0">
                <a:solidFill>
                  <a:schemeClr val="tx1"/>
                </a:solidFill>
                <a:latin typeface="+mn-lt"/>
                <a:ea typeface="+mn-ea"/>
              </a:rPr>
              <a:t>函数把这个物理页的 </a:t>
            </a:r>
            <a:r>
              <a:rPr lang="en-US" altLang="zh-CN" sz="1800" dirty="0">
                <a:solidFill>
                  <a:schemeClr val="tx1"/>
                </a:solidFill>
                <a:latin typeface="+mn-lt"/>
                <a:ea typeface="+mn-ea"/>
              </a:rPr>
              <a:t>PTE </a:t>
            </a:r>
            <a:r>
              <a:rPr lang="zh-CN" altLang="en-US" sz="1800" dirty="0">
                <a:solidFill>
                  <a:schemeClr val="tx1"/>
                </a:solidFill>
                <a:latin typeface="+mn-lt"/>
                <a:ea typeface="+mn-ea"/>
              </a:rPr>
              <a:t>加到进程的页表里。</a:t>
            </a:r>
            <a:r>
              <a:rPr lang="en-US" altLang="zh-CN" sz="1800" dirty="0">
                <a:solidFill>
                  <a:schemeClr val="tx1"/>
                </a:solidFill>
                <a:latin typeface="+mn-lt"/>
                <a:ea typeface="+mn-ea"/>
              </a:rPr>
              <a:t>xv6 </a:t>
            </a:r>
            <a:r>
              <a:rPr lang="zh-CN" altLang="en-US" sz="1800" dirty="0">
                <a:solidFill>
                  <a:schemeClr val="tx1"/>
                </a:solidFill>
                <a:latin typeface="+mn-lt"/>
                <a:ea typeface="+mn-ea"/>
              </a:rPr>
              <a:t>会设置该 </a:t>
            </a:r>
            <a:r>
              <a:rPr lang="en-US" altLang="zh-CN" sz="1800" dirty="0">
                <a:solidFill>
                  <a:schemeClr val="tx1"/>
                </a:solidFill>
                <a:latin typeface="+mn-lt"/>
                <a:ea typeface="+mn-ea"/>
              </a:rPr>
              <a:t>PTE </a:t>
            </a:r>
            <a:r>
              <a:rPr lang="zh-CN" altLang="en-US" sz="1800" dirty="0">
                <a:solidFill>
                  <a:schemeClr val="tx1"/>
                </a:solidFill>
                <a:latin typeface="+mn-lt"/>
                <a:ea typeface="+mn-ea"/>
              </a:rPr>
              <a:t>对应的标志位</a:t>
            </a:r>
            <a:r>
              <a:rPr lang="en-US" altLang="zh-CN" sz="1800" dirty="0">
                <a:solidFill>
                  <a:schemeClr val="tx1"/>
                </a:solidFill>
                <a:latin typeface="+mn-lt"/>
                <a:ea typeface="+mn-ea"/>
              </a:rPr>
              <a:t>(W,X,R,U,V)</a:t>
            </a:r>
            <a:r>
              <a:rPr lang="zh-CN" altLang="en-US" sz="1800" dirty="0">
                <a:solidFill>
                  <a:schemeClr val="tx1"/>
                </a:solidFill>
                <a:latin typeface="+mn-lt"/>
                <a:ea typeface="+mn-ea"/>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436077"/>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实验要求</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本任务中，你将取消 </a:t>
            </a:r>
            <a:r>
              <a:rPr lang="en-US" altLang="zh-CN" sz="2000" dirty="0" err="1">
                <a:latin typeface="微软雅黑" panose="020B0503020204020204" pitchFamily="34" charset="-122"/>
                <a:ea typeface="微软雅黑" panose="020B0503020204020204" pitchFamily="34" charset="-122"/>
                <a:cs typeface="+mn-lt"/>
              </a:rPr>
              <a:t>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系统调用中原有的页面分配功能。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更改 </a:t>
            </a:r>
            <a:r>
              <a:rPr lang="en-US" altLang="zh-CN" sz="2000" dirty="0">
                <a:latin typeface="微软雅黑" panose="020B0503020204020204" pitchFamily="34" charset="-122"/>
                <a:ea typeface="微软雅黑" panose="020B0503020204020204" pitchFamily="34" charset="-122"/>
                <a:cs typeface="+mn-lt"/>
              </a:rPr>
              <a:t>kernel/</a:t>
            </a:r>
            <a:r>
              <a:rPr lang="en-US" altLang="zh-CN" sz="2000" dirty="0" err="1">
                <a:latin typeface="微软雅黑" panose="020B0503020204020204" pitchFamily="34" charset="-122"/>
                <a:ea typeface="微软雅黑" panose="020B0503020204020204" pitchFamily="34" charset="-122"/>
                <a:cs typeface="+mn-lt"/>
              </a:rPr>
              <a:t>sysproc.c</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中的 </a:t>
            </a:r>
            <a:r>
              <a:rPr lang="en-US" altLang="zh-CN" sz="2000" dirty="0" err="1">
                <a:latin typeface="微软雅黑" panose="020B0503020204020204" pitchFamily="34" charset="-122"/>
                <a:ea typeface="微软雅黑" panose="020B0503020204020204" pitchFamily="34" charset="-122"/>
                <a:cs typeface="+mn-lt"/>
              </a:rPr>
              <a:t>sys_sbrk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函数，把原来只要申请就分配的逻辑改成申请时仅进行标注，即更改进程的 </a:t>
            </a:r>
            <a:r>
              <a:rPr lang="en-US" altLang="zh-CN" sz="2000" dirty="0" err="1">
                <a:latin typeface="微软雅黑" panose="020B0503020204020204" pitchFamily="34" charset="-122"/>
                <a:ea typeface="微软雅黑" panose="020B0503020204020204" pitchFamily="34" charset="-122"/>
                <a:cs typeface="+mn-lt"/>
              </a:rPr>
              <a:t>sz</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字段，只增大进程的内存空间字段</a:t>
            </a:r>
            <a:endParaRPr lang="en-US" altLang="zh-CN" sz="2000" dirty="0">
              <a:latin typeface="微软雅黑" panose="020B0503020204020204" pitchFamily="34" charset="-122"/>
              <a:ea typeface="微软雅黑" panose="020B0503020204020204" pitchFamily="34" charset="-122"/>
              <a:cs typeface="+mn-lt"/>
            </a:endParaRPr>
          </a:p>
          <a:p>
            <a:pPr lvl="1" indent="-457200">
              <a:lnSpc>
                <a:spcPct val="150000"/>
              </a:lnSpc>
              <a:buFont typeface="Wingdings" panose="05000000000000000000" pitchFamily="2" charset="2"/>
              <a:buChar char="q"/>
              <a:defRPr/>
            </a:pPr>
            <a:r>
              <a:rPr lang="en-US" altLang="zh-CN" sz="2000" b="1" dirty="0" err="1">
                <a:latin typeface="微软雅黑" panose="020B0503020204020204" pitchFamily="34" charset="-122"/>
                <a:ea typeface="微软雅黑" panose="020B0503020204020204" pitchFamily="34" charset="-122"/>
                <a:cs typeface="+mn-lt"/>
              </a:rPr>
              <a:t>sys_sbrk</a:t>
            </a:r>
            <a:r>
              <a:rPr lang="en-US" altLang="zh-CN" sz="2000" b="1" dirty="0">
                <a:latin typeface="微软雅黑" panose="020B0503020204020204" pitchFamily="34" charset="-122"/>
                <a:ea typeface="微软雅黑" panose="020B0503020204020204" pitchFamily="34" charset="-122"/>
                <a:cs typeface="+mn-lt"/>
              </a:rPr>
              <a:t>() </a:t>
            </a:r>
            <a:r>
              <a:rPr lang="zh-CN" altLang="en-US" sz="2000" b="1" dirty="0">
                <a:latin typeface="微软雅黑" panose="020B0503020204020204" pitchFamily="34" charset="-122"/>
                <a:ea typeface="微软雅黑" panose="020B0503020204020204" pitchFamily="34" charset="-122"/>
                <a:cs typeface="+mn-lt"/>
              </a:rPr>
              <a:t>函数</a:t>
            </a:r>
            <a:endParaRPr lang="en-US" altLang="zh-CN" sz="2000" b="1"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系统调用于改变程序间断点的位置和数据段长度，实现虚拟内存到物理内存的映射。具体实现中，</a:t>
            </a:r>
            <a:r>
              <a:rPr lang="en-US" altLang="zh-CN" sz="2000" dirty="0" err="1">
                <a:latin typeface="微软雅黑" panose="020B0503020204020204" pitchFamily="34" charset="-122"/>
                <a:ea typeface="微软雅黑" panose="020B0503020204020204" pitchFamily="34" charset="-122"/>
                <a:cs typeface="+mn-lt"/>
              </a:rPr>
              <a:t>sys_sbrk</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函数会将进程的内存大小增加 </a:t>
            </a:r>
            <a:r>
              <a:rPr lang="en-US" altLang="zh-CN" sz="2000" dirty="0">
                <a:latin typeface="微软雅黑" panose="020B0503020204020204" pitchFamily="34" charset="-122"/>
                <a:ea typeface="微软雅黑" panose="020B0503020204020204" pitchFamily="34" charset="-122"/>
                <a:cs typeface="+mn-lt"/>
              </a:rPr>
              <a:t>n </a:t>
            </a:r>
            <a:r>
              <a:rPr lang="zh-CN" altLang="en-US" sz="2000" dirty="0">
                <a:latin typeface="微软雅黑" panose="020B0503020204020204" pitchFamily="34" charset="-122"/>
                <a:ea typeface="微软雅黑" panose="020B0503020204020204" pitchFamily="34" charset="-122"/>
                <a:cs typeface="+mn-lt"/>
              </a:rPr>
              <a:t>个字节，并分配内存，然后返回新分配区域的起始地址值。</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pic>
        <p:nvPicPr>
          <p:cNvPr id="4" name="图片 3"/>
          <p:cNvPicPr>
            <a:picLocks noChangeAspect="1"/>
          </p:cNvPicPr>
          <p:nvPr/>
        </p:nvPicPr>
        <p:blipFill>
          <a:blip r:embed="rId3"/>
          <a:stretch>
            <a:fillRect/>
          </a:stretch>
        </p:blipFill>
        <p:spPr>
          <a:xfrm>
            <a:off x="515937" y="2004043"/>
            <a:ext cx="10465761" cy="2778971"/>
          </a:xfrm>
          <a:prstGeom prst="rect">
            <a:avLst/>
          </a:prstGeom>
        </p:spPr>
      </p:pic>
      <p:sp>
        <p:nvSpPr>
          <p:cNvPr id="7" name="文本框 6"/>
          <p:cNvSpPr txBox="1"/>
          <p:nvPr/>
        </p:nvSpPr>
        <p:spPr>
          <a:xfrm>
            <a:off x="437418" y="5096470"/>
            <a:ext cx="11212390" cy="923330"/>
          </a:xfrm>
          <a:prstGeom prst="rect">
            <a:avLst/>
          </a:prstGeom>
          <a:noFill/>
        </p:spPr>
        <p:txBody>
          <a:bodyPr wrap="square">
            <a:spAutoFit/>
          </a:bodyPr>
          <a:lstStyle/>
          <a:p>
            <a:r>
              <a:rPr lang="zh-CN" altLang="en-US" dirty="0"/>
              <a:t>执行 </a:t>
            </a:r>
            <a:r>
              <a:rPr lang="en-US" altLang="zh-CN" dirty="0"/>
              <a:t>echo hi </a:t>
            </a:r>
            <a:r>
              <a:rPr lang="zh-CN" altLang="en-US" dirty="0"/>
              <a:t>会触发缺页中断。取消立即分配后，因为没有从虚拟地址映射到物理地址（</a:t>
            </a:r>
            <a:r>
              <a:rPr lang="en-US" altLang="zh-CN" dirty="0"/>
              <a:t>not mapped</a:t>
            </a:r>
            <a:r>
              <a:rPr lang="zh-CN" altLang="en-US" dirty="0"/>
              <a:t>）</a:t>
            </a:r>
            <a:r>
              <a:rPr lang="en-US" altLang="zh-CN" dirty="0"/>
              <a:t>, </a:t>
            </a:r>
            <a:r>
              <a:rPr lang="zh-CN" altLang="en-US" dirty="0"/>
              <a:t>使得 </a:t>
            </a:r>
            <a:r>
              <a:rPr lang="en-US" altLang="zh-CN" dirty="0"/>
              <a:t>xv6 </a:t>
            </a:r>
            <a:r>
              <a:rPr lang="zh-CN" altLang="en-US" dirty="0"/>
              <a:t>内核 </a:t>
            </a:r>
            <a:r>
              <a:rPr lang="en-US" altLang="zh-CN" dirty="0"/>
              <a:t>panic </a:t>
            </a:r>
            <a:r>
              <a:rPr lang="zh-CN" altLang="en-US" dirty="0"/>
              <a:t>了。 </a:t>
            </a:r>
            <a:endParaRPr lang="en-US" altLang="zh-CN" dirty="0"/>
          </a:p>
          <a:p>
            <a:r>
              <a:rPr lang="en-US" altLang="zh-CN" dirty="0"/>
              <a:t>"</a:t>
            </a:r>
            <a:r>
              <a:rPr lang="en-US" altLang="zh-CN" dirty="0" err="1"/>
              <a:t>usertrap</a:t>
            </a:r>
            <a:r>
              <a:rPr lang="en-US" altLang="zh-CN" dirty="0"/>
              <a:t>()</a:t>
            </a:r>
            <a:r>
              <a:rPr lang="zh-CN" altLang="en-US" dirty="0"/>
              <a:t>：</a:t>
            </a:r>
            <a:r>
              <a:rPr lang="en-US" altLang="zh-CN" dirty="0"/>
              <a:t>...... "</a:t>
            </a:r>
            <a:r>
              <a:rPr lang="zh-CN" altLang="en-US" dirty="0"/>
              <a:t>信息来自 </a:t>
            </a:r>
            <a:r>
              <a:rPr lang="en-US" altLang="zh-CN" dirty="0" err="1"/>
              <a:t>trap.c</a:t>
            </a:r>
            <a:r>
              <a:rPr lang="en-US" altLang="zh-CN" dirty="0"/>
              <a:t> </a:t>
            </a:r>
            <a:r>
              <a:rPr lang="zh-CN" altLang="en-US" dirty="0"/>
              <a:t>中的用户陷阱处理程序，它捕捉到了缺页中断。</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89892"/>
            <a:ext cx="11904785" cy="587057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1</a:t>
            </a:r>
            <a:r>
              <a:rPr lang="zh-CN" altLang="en-US" dirty="0">
                <a:solidFill>
                  <a:srgbClr val="002060"/>
                </a:solidFill>
                <a:sym typeface="+mn-ea"/>
              </a:rPr>
              <a:t>：取消系统调用中原有的页面分配功能</a:t>
            </a:r>
          </a:p>
        </p:txBody>
      </p:sp>
      <p:pic>
        <p:nvPicPr>
          <p:cNvPr id="5" name="图片 4">
            <a:extLst>
              <a:ext uri="{FF2B5EF4-FFF2-40B4-BE49-F238E27FC236}">
                <a16:creationId xmlns:a16="http://schemas.microsoft.com/office/drawing/2014/main" id="{74142172-ABF0-4BED-0C5C-B553055D9317}"/>
              </a:ext>
            </a:extLst>
          </p:cNvPr>
          <p:cNvPicPr>
            <a:picLocks noChangeAspect="1"/>
          </p:cNvPicPr>
          <p:nvPr/>
        </p:nvPicPr>
        <p:blipFill>
          <a:blip r:embed="rId3"/>
          <a:srcRect t="15431"/>
          <a:stretch>
            <a:fillRect/>
          </a:stretch>
        </p:blipFill>
        <p:spPr>
          <a:xfrm>
            <a:off x="1047598" y="2396067"/>
            <a:ext cx="4753763" cy="88162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4379259"/>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环境下执行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命令并检查输出。 在本任务中，你将修改代码以响应来自用户空间的页面错误。方法是新分配一个物理页面并映射到发生错误的地址，然后返回到用户空间，让进程继续执行，以使 </a:t>
            </a:r>
            <a:r>
              <a:rPr lang="en-US" altLang="zh-CN" sz="2000" dirty="0">
                <a:latin typeface="微软雅黑" panose="020B0503020204020204" pitchFamily="34" charset="-122"/>
                <a:ea typeface="微软雅黑" panose="020B0503020204020204" pitchFamily="34" charset="-122"/>
                <a:cs typeface="+mn-lt"/>
              </a:rPr>
              <a:t>echo hi </a:t>
            </a:r>
            <a:r>
              <a:rPr lang="zh-CN" altLang="en-US" sz="2000" dirty="0">
                <a:latin typeface="微软雅黑" panose="020B0503020204020204" pitchFamily="34" charset="-122"/>
                <a:ea typeface="微软雅黑" panose="020B0503020204020204" pitchFamily="34" charset="-122"/>
                <a:cs typeface="+mn-lt"/>
              </a:rPr>
              <a:t>正常工作。</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endParaRPr>
          </a:p>
          <a:p>
            <a:pPr lvl="1" indent="-457200">
              <a:lnSpc>
                <a:spcPct val="150000"/>
              </a:lnSpc>
              <a:buFont typeface="Wingdings" panose="05000000000000000000" pitchFamily="2" charset="2"/>
              <a:buChar char="q"/>
              <a:defRPr/>
            </a:pPr>
            <a:r>
              <a:rPr lang="zh-CN" altLang="en-US" sz="2000" b="1" dirty="0">
                <a:latin typeface="微软雅黑" panose="020B0503020204020204" pitchFamily="34" charset="-122"/>
                <a:ea typeface="微软雅黑" panose="020B0503020204020204" pitchFamily="34" charset="-122"/>
                <a:cs typeface="+mn-lt"/>
              </a:rPr>
              <a:t>实验内容</a:t>
            </a:r>
            <a:endParaRPr lang="en-US" altLang="zh-CN" sz="2000" b="1" dirty="0">
              <a:latin typeface="微软雅黑" panose="020B0503020204020204" pitchFamily="34" charset="-122"/>
              <a:ea typeface="微软雅黑" panose="020B0503020204020204" pitchFamily="34" charset="-122"/>
              <a:cs typeface="+mn-lt"/>
            </a:endParaRPr>
          </a:p>
          <a:p>
            <a:pPr marL="984250" lvl="1" indent="-263525">
              <a:lnSpc>
                <a:spcPct val="150000"/>
              </a:lnSpc>
              <a:buFont typeface="Wingdings" panose="05000000000000000000" pitchFamily="2" charset="2"/>
              <a:buChar char="l"/>
              <a:tabLst>
                <a:tab pos="1073150" algn="l"/>
              </a:tabLst>
              <a:defRPr/>
            </a:pPr>
            <a:r>
              <a:rPr lang="zh-CN" altLang="en-US" sz="2000" dirty="0">
                <a:latin typeface="微软雅黑" panose="020B0503020204020204" pitchFamily="34" charset="-122"/>
                <a:ea typeface="微软雅黑" panose="020B0503020204020204" pitchFamily="34" charset="-122"/>
                <a:cs typeface="+mn-lt"/>
              </a:rPr>
              <a:t>处理中断，分配内存。</a:t>
            </a:r>
          </a:p>
          <a:p>
            <a:pPr marL="984250" lvl="1" indent="-263525">
              <a:lnSpc>
                <a:spcPct val="150000"/>
              </a:lnSpc>
              <a:buFont typeface="Wingdings" panose="05000000000000000000" pitchFamily="2" charset="2"/>
              <a:buChar char="l"/>
              <a:tabLst>
                <a:tab pos="1073150" algn="l"/>
              </a:tabLst>
              <a:defRPr/>
            </a:pPr>
            <a:r>
              <a:rPr lang="zh-CN" altLang="en-US" sz="2000" dirty="0">
                <a:latin typeface="微软雅黑" panose="020B0503020204020204" pitchFamily="34" charset="-122"/>
                <a:ea typeface="微软雅黑" panose="020B0503020204020204" pitchFamily="34" charset="-122"/>
                <a:cs typeface="+mn-lt"/>
              </a:rPr>
              <a:t>处理任务</a:t>
            </a:r>
            <a:r>
              <a:rPr lang="en-US" altLang="zh-CN" sz="2000" dirty="0">
                <a:latin typeface="微软雅黑" panose="020B0503020204020204" pitchFamily="34" charset="-122"/>
                <a:ea typeface="微软雅黑" panose="020B0503020204020204" pitchFamily="34" charset="-122"/>
                <a:cs typeface="+mn-lt"/>
              </a:rPr>
              <a:t>1 </a:t>
            </a:r>
            <a:r>
              <a:rPr lang="zh-CN" altLang="en-US" sz="2000" dirty="0">
                <a:latin typeface="微软雅黑" panose="020B0503020204020204" pitchFamily="34" charset="-122"/>
                <a:ea typeface="微软雅黑" panose="020B0503020204020204" pitchFamily="34" charset="-122"/>
                <a:cs typeface="+mn-lt"/>
              </a:rPr>
              <a:t>的相关修改后引发的当前 </a:t>
            </a:r>
            <a:r>
              <a:rPr lang="en-US" altLang="zh-CN" sz="2000" dirty="0" err="1">
                <a:latin typeface="微软雅黑" panose="020B0503020204020204" pitchFamily="34" charset="-122"/>
                <a:ea typeface="微软雅黑" panose="020B0503020204020204" pitchFamily="34" charset="-122"/>
                <a:cs typeface="+mn-lt"/>
              </a:rPr>
              <a:t>uvmunmap</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导致系统 </a:t>
            </a:r>
            <a:r>
              <a:rPr lang="en-US" altLang="zh-CN" sz="2000" dirty="0">
                <a:latin typeface="微软雅黑" panose="020B0503020204020204" pitchFamily="34" charset="-122"/>
                <a:ea typeface="微软雅黑" panose="020B0503020204020204" pitchFamily="34" charset="-122"/>
                <a:cs typeface="+mn-lt"/>
              </a:rPr>
              <a:t>panic </a:t>
            </a:r>
            <a:r>
              <a:rPr lang="zh-CN" altLang="en-US" sz="2000" dirty="0">
                <a:latin typeface="微软雅黑" panose="020B0503020204020204" pitchFamily="34" charset="-122"/>
                <a:ea typeface="微软雅黑" panose="020B0503020204020204" pitchFamily="34" charset="-122"/>
                <a:cs typeface="+mn-lt"/>
              </a:rPr>
              <a:t>崩溃的问题。</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2</a:t>
            </a:r>
            <a:r>
              <a:rPr lang="zh-CN" altLang="en-US" dirty="0">
                <a:solidFill>
                  <a:srgbClr val="002060"/>
                </a:solidFill>
                <a:sym typeface="+mn-ea"/>
              </a:rPr>
              <a:t>：实现懒分配功能</a:t>
            </a:r>
            <a:r>
              <a:rPr lang="zh-CN" altLang="en-US" sz="2400" dirty="0">
                <a:solidFill>
                  <a:srgbClr val="002060"/>
                </a:solidFill>
                <a:sym typeface="+mn-ea"/>
              </a:rPr>
              <a:t>（以 </a:t>
            </a:r>
            <a:r>
              <a:rPr lang="en-US" altLang="zh-CN" sz="2400" dirty="0">
                <a:solidFill>
                  <a:srgbClr val="002060"/>
                </a:solidFill>
                <a:sym typeface="+mn-ea"/>
              </a:rPr>
              <a:t>echo hi </a:t>
            </a:r>
            <a:r>
              <a:rPr lang="zh-CN" altLang="en-US" sz="2400" dirty="0">
                <a:solidFill>
                  <a:srgbClr val="002060"/>
                </a:solidFill>
                <a:sym typeface="+mn-ea"/>
              </a:rPr>
              <a:t>命令测试） </a:t>
            </a:r>
            <a:endParaRPr lang="zh-CN" altLang="en-US" dirty="0">
              <a:solidFill>
                <a:srgbClr val="002060"/>
              </a:solidFill>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5266765"/>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trap()</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lang="zh-CN" altLang="en-US" sz="2000" dirty="0">
                <a:latin typeface="微软雅黑" panose="020B0503020204020204" pitchFamily="34" charset="-122"/>
                <a:ea typeface="微软雅黑" panose="020B0503020204020204" pitchFamily="34" charset="-122"/>
                <a:cs typeface="+mn-lt"/>
              </a:rPr>
              <a:t>      系统调用的中断码是 </a:t>
            </a:r>
            <a:r>
              <a:rPr lang="en-US" altLang="zh-CN" sz="2000" dirty="0">
                <a:latin typeface="微软雅黑" panose="020B0503020204020204" pitchFamily="34" charset="-122"/>
                <a:ea typeface="微软雅黑" panose="020B0503020204020204" pitchFamily="34" charset="-122"/>
                <a:cs typeface="+mn-lt"/>
              </a:rPr>
              <a:t>8</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page fault </a:t>
            </a:r>
            <a:r>
              <a:rPr lang="zh-CN" altLang="en-US" sz="2000" dirty="0">
                <a:latin typeface="微软雅黑" panose="020B0503020204020204" pitchFamily="34" charset="-122"/>
                <a:ea typeface="微软雅黑" panose="020B0503020204020204" pitchFamily="34" charset="-122"/>
                <a:cs typeface="+mn-lt"/>
              </a:rPr>
              <a:t>的中断码是 </a:t>
            </a:r>
            <a:r>
              <a:rPr lang="en-US" altLang="zh-CN" sz="2000" dirty="0">
                <a:latin typeface="微软雅黑" panose="020B0503020204020204" pitchFamily="34" charset="-122"/>
                <a:ea typeface="微软雅黑" panose="020B0503020204020204" pitchFamily="34" charset="-122"/>
                <a:cs typeface="+mn-lt"/>
              </a:rPr>
              <a:t>13 </a:t>
            </a:r>
            <a:r>
              <a:rPr lang="zh-CN" altLang="en-US" sz="2000" dirty="0">
                <a:latin typeface="微软雅黑" panose="020B0503020204020204" pitchFamily="34" charset="-122"/>
                <a:ea typeface="微软雅黑" panose="020B0503020204020204" pitchFamily="34" charset="-122"/>
                <a:cs typeface="+mn-lt"/>
              </a:rPr>
              <a:t>和 </a:t>
            </a:r>
            <a:r>
              <a:rPr lang="en-US" altLang="zh-CN" sz="2000" dirty="0">
                <a:latin typeface="微软雅黑" panose="020B0503020204020204" pitchFamily="34" charset="-122"/>
                <a:ea typeface="微软雅黑" panose="020B0503020204020204" pitchFamily="34" charset="-122"/>
                <a:cs typeface="+mn-lt"/>
              </a:rPr>
              <a:t>15</a:t>
            </a:r>
            <a:r>
              <a:rPr lang="zh-CN" altLang="en-US" sz="2000" dirty="0">
                <a:latin typeface="微软雅黑" panose="020B0503020204020204" pitchFamily="34" charset="-122"/>
                <a:ea typeface="微软雅黑" panose="020B0503020204020204" pitchFamily="34" charset="-122"/>
                <a:cs typeface="+mn-lt"/>
              </a:rPr>
              <a:t>。因此，这里我们对 </a:t>
            </a:r>
            <a:r>
              <a:rPr lang="en-US" altLang="zh-CN" sz="2000" dirty="0" err="1">
                <a:latin typeface="微软雅黑" panose="020B0503020204020204" pitchFamily="34" charset="-122"/>
                <a:ea typeface="微软雅黑" panose="020B0503020204020204" pitchFamily="34" charset="-122"/>
                <a:cs typeface="+mn-lt"/>
              </a:rPr>
              <a:t>r_scause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中断原因进行判断，如果是 </a:t>
            </a:r>
            <a:r>
              <a:rPr lang="en-US" altLang="zh-CN" sz="2000" dirty="0">
                <a:latin typeface="微软雅黑" panose="020B0503020204020204" pitchFamily="34" charset="-122"/>
                <a:ea typeface="微软雅黑" panose="020B0503020204020204" pitchFamily="34" charset="-122"/>
                <a:cs typeface="+mn-lt"/>
              </a:rPr>
              <a:t>13 </a:t>
            </a:r>
            <a:r>
              <a:rPr lang="zh-CN" altLang="en-US" sz="2000" dirty="0">
                <a:latin typeface="微软雅黑" panose="020B0503020204020204" pitchFamily="34" charset="-122"/>
                <a:ea typeface="微软雅黑" panose="020B0503020204020204" pitchFamily="34" charset="-122"/>
                <a:cs typeface="+mn-lt"/>
              </a:rPr>
              <a:t>或是 </a:t>
            </a:r>
            <a:r>
              <a:rPr lang="en-US" altLang="zh-CN" sz="2000" dirty="0">
                <a:latin typeface="微软雅黑" panose="020B0503020204020204" pitchFamily="34" charset="-122"/>
                <a:ea typeface="微软雅黑" panose="020B0503020204020204" pitchFamily="34" charset="-122"/>
                <a:cs typeface="+mn-lt"/>
              </a:rPr>
              <a:t>15</a:t>
            </a:r>
            <a:r>
              <a:rPr lang="zh-CN" altLang="en-US" sz="2000" dirty="0">
                <a:latin typeface="微软雅黑" panose="020B0503020204020204" pitchFamily="34" charset="-122"/>
                <a:ea typeface="微软雅黑" panose="020B0503020204020204" pitchFamily="34" charset="-122"/>
                <a:cs typeface="+mn-lt"/>
              </a:rPr>
              <a:t>，则说明没有找到地址。错误的虚拟地址被保存在了 </a:t>
            </a:r>
            <a:r>
              <a:rPr lang="en-US" altLang="zh-CN" sz="2000" dirty="0">
                <a:latin typeface="微软雅黑" panose="020B0503020204020204" pitchFamily="34" charset="-122"/>
                <a:ea typeface="微软雅黑" panose="020B0503020204020204" pitchFamily="34" charset="-122"/>
                <a:cs typeface="+mn-lt"/>
              </a:rPr>
              <a:t>STVAL </a:t>
            </a:r>
            <a:r>
              <a:rPr lang="zh-CN" altLang="en-US" sz="2000" dirty="0">
                <a:latin typeface="微软雅黑" panose="020B0503020204020204" pitchFamily="34" charset="-122"/>
                <a:ea typeface="微软雅黑" panose="020B0503020204020204" pitchFamily="34" charset="-122"/>
                <a:cs typeface="+mn-lt"/>
              </a:rPr>
              <a:t>寄存器中，我们取出该地址进行分配。如果申请物理地址没成功或者虚拟地址超出范围了，那么杀掉进程。</a:t>
            </a:r>
            <a:endParaRPr lang="en-US" altLang="zh-CN" sz="2000" dirty="0">
              <a:latin typeface="微软雅黑" panose="020B0503020204020204" pitchFamily="34" charset="-122"/>
              <a:ea typeface="微软雅黑" panose="020B0503020204020204" pitchFamily="34" charset="-122"/>
              <a:cs typeface="+mn-lt"/>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r>
              <a:rPr lang="zh-CN" altLang="en-US" sz="2000" dirty="0">
                <a:latin typeface="微软雅黑" panose="020B0503020204020204" pitchFamily="34" charset="-122"/>
                <a:ea typeface="微软雅黑" panose="020B0503020204020204" pitchFamily="34" charset="-122"/>
                <a:cs typeface="+mn-lt"/>
              </a:rPr>
              <a:t>如果申请内存成功了，如果虚拟地址不合法，需要再释放掉这块内存</a:t>
            </a:r>
            <a:endParaRPr lang="en-US" altLang="zh-CN" sz="2000" dirty="0">
              <a:latin typeface="微软雅黑" panose="020B0503020204020204" pitchFamily="34" charset="-122"/>
              <a:ea typeface="微软雅黑" panose="020B0503020204020204" pitchFamily="34" charset="-122"/>
              <a:cs typeface="+mn-lt"/>
            </a:endParaRPr>
          </a:p>
          <a:p>
            <a:pPr marL="457200" marR="0" lvl="1" indent="0" algn="l" defTabSz="914400" rtl="0" eaLnBrk="1" fontAlgn="base" latinLnBrk="1" hangingPunct="1">
              <a:lnSpc>
                <a:spcPct val="150000"/>
              </a:lnSpc>
              <a:spcBef>
                <a:spcPct val="20000"/>
              </a:spcBef>
              <a:spcAft>
                <a:spcPct val="0"/>
              </a:spcAft>
              <a:buClr>
                <a:srgbClr val="8AC6CD"/>
              </a:buClr>
              <a:buSzPct val="120000"/>
              <a:buNone/>
              <a:defRPr/>
            </a:pP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en-US" altLang="zh-CN" sz="2000" dirty="0" err="1">
                <a:latin typeface="微软雅黑" panose="020B0503020204020204" pitchFamily="34" charset="-122"/>
                <a:ea typeface="微软雅黑" panose="020B0503020204020204" pitchFamily="34" charset="-122"/>
                <a:cs typeface="+mn-lt"/>
              </a:rPr>
              <a:t>va</a:t>
            </a:r>
            <a:r>
              <a:rPr lang="en-US" altLang="zh-CN" sz="2000" dirty="0">
                <a:latin typeface="微软雅黑" panose="020B0503020204020204" pitchFamily="34" charset="-122"/>
                <a:ea typeface="微软雅黑" panose="020B0503020204020204" pitchFamily="34" charset="-122"/>
                <a:cs typeface="+mn-lt"/>
              </a:rPr>
              <a:t> &gt;= p-&gt;</a:t>
            </a:r>
            <a:r>
              <a:rPr lang="en-US" altLang="zh-CN" sz="2000" dirty="0" err="1">
                <a:latin typeface="微软雅黑" panose="020B0503020204020204" pitchFamily="34" charset="-122"/>
                <a:ea typeface="微软雅黑" panose="020B0503020204020204" pitchFamily="34" charset="-122"/>
                <a:cs typeface="+mn-lt"/>
              </a:rPr>
              <a:t>sz</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是指虚拟地址不能超过堆实际分配的大小；</a:t>
            </a: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en-US" altLang="zh-CN" sz="2000" dirty="0">
                <a:latin typeface="微软雅黑" panose="020B0503020204020204" pitchFamily="34" charset="-122"/>
                <a:ea typeface="微软雅黑" panose="020B0503020204020204" pitchFamily="34" charset="-122"/>
                <a:cs typeface="+mn-lt"/>
              </a:rPr>
              <a:t>p-&gt;</a:t>
            </a:r>
            <a:r>
              <a:rPr lang="en-US" altLang="zh-CN" sz="2000" dirty="0" err="1">
                <a:latin typeface="微软雅黑" panose="020B0503020204020204" pitchFamily="34" charset="-122"/>
                <a:ea typeface="微软雅黑" panose="020B0503020204020204" pitchFamily="34" charset="-122"/>
                <a:cs typeface="+mn-lt"/>
              </a:rPr>
              <a:t>trapframe</a:t>
            </a:r>
            <a:r>
              <a:rPr lang="en-US" altLang="zh-CN" sz="2000" dirty="0">
                <a:latin typeface="微软雅黑" panose="020B0503020204020204" pitchFamily="34" charset="-122"/>
                <a:ea typeface="微软雅黑" panose="020B0503020204020204" pitchFamily="34" charset="-122"/>
                <a:cs typeface="+mn-lt"/>
              </a:rPr>
              <a:t>-&gt;</a:t>
            </a:r>
            <a:r>
              <a:rPr lang="en-US" altLang="zh-CN" sz="2000" dirty="0" err="1">
                <a:latin typeface="微软雅黑" panose="020B0503020204020204" pitchFamily="34" charset="-122"/>
                <a:ea typeface="微软雅黑" panose="020B0503020204020204" pitchFamily="34" charset="-122"/>
                <a:cs typeface="+mn-lt"/>
              </a:rPr>
              <a:t>sp</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是指栈指针的位置，所以 </a:t>
            </a:r>
            <a:r>
              <a:rPr lang="en-US" altLang="zh-CN" sz="2000" dirty="0">
                <a:latin typeface="微软雅黑" panose="020B0503020204020204" pitchFamily="34" charset="-122"/>
                <a:ea typeface="微软雅黑" panose="020B0503020204020204" pitchFamily="34" charset="-122"/>
                <a:cs typeface="+mn-lt"/>
              </a:rPr>
              <a:t>PGROUNDDOWN(p-&gt;</a:t>
            </a:r>
            <a:r>
              <a:rPr lang="en-US" altLang="zh-CN" sz="2000" dirty="0" err="1">
                <a:latin typeface="微软雅黑" panose="020B0503020204020204" pitchFamily="34" charset="-122"/>
                <a:ea typeface="微软雅黑" panose="020B0503020204020204" pitchFamily="34" charset="-122"/>
                <a:cs typeface="+mn-lt"/>
              </a:rPr>
              <a:t>trapframe</a:t>
            </a:r>
            <a:r>
              <a:rPr lang="en-US" altLang="zh-CN" sz="2000" dirty="0">
                <a:latin typeface="微软雅黑" panose="020B0503020204020204" pitchFamily="34" charset="-122"/>
                <a:ea typeface="微软雅黑" panose="020B0503020204020204" pitchFamily="34" charset="-122"/>
                <a:cs typeface="+mn-lt"/>
              </a:rPr>
              <a:t>-&gt;</a:t>
            </a:r>
            <a:r>
              <a:rPr lang="en-US" altLang="zh-CN" sz="2000" dirty="0" err="1">
                <a:latin typeface="微软雅黑" panose="020B0503020204020204" pitchFamily="34" charset="-122"/>
                <a:ea typeface="微软雅黑" panose="020B0503020204020204" pitchFamily="34" charset="-122"/>
                <a:cs typeface="+mn-lt"/>
              </a:rPr>
              <a:t>sp</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是指栈顶最大值，是 </a:t>
            </a:r>
            <a:r>
              <a:rPr lang="en-US" altLang="zh-CN" sz="2000" dirty="0">
                <a:latin typeface="微软雅黑" panose="020B0503020204020204" pitchFamily="34" charset="-122"/>
                <a:ea typeface="微软雅黑" panose="020B0503020204020204" pitchFamily="34" charset="-122"/>
                <a:cs typeface="+mn-lt"/>
              </a:rPr>
              <a:t>guard </a:t>
            </a:r>
            <a:r>
              <a:rPr lang="zh-CN" altLang="en-US" sz="2000" dirty="0">
                <a:latin typeface="微软雅黑" panose="020B0503020204020204" pitchFamily="34" charset="-122"/>
                <a:ea typeface="微软雅黑" panose="020B0503020204020204" pitchFamily="34" charset="-122"/>
                <a:cs typeface="+mn-lt"/>
              </a:rPr>
              <a:t>页的最大地址，用于防止栈溢出；</a:t>
            </a:r>
            <a:endParaRPr lang="en-US" altLang="zh-CN" sz="2000" dirty="0">
              <a:latin typeface="微软雅黑" panose="020B0503020204020204" pitchFamily="34" charset="-122"/>
              <a:ea typeface="微软雅黑" panose="020B0503020204020204" pitchFamily="34" charset="-122"/>
              <a:cs typeface="+mn-lt"/>
            </a:endParaRPr>
          </a:p>
          <a:p>
            <a:pPr marL="800100" marR="0" lvl="1" indent="-3429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l"/>
              <a:defRPr/>
            </a:pPr>
            <a:r>
              <a:rPr lang="zh-CN" altLang="en-US" sz="2000" dirty="0">
                <a:latin typeface="微软雅黑" panose="020B0503020204020204" pitchFamily="34" charset="-122"/>
                <a:ea typeface="微软雅黑" panose="020B0503020204020204" pitchFamily="34" charset="-122"/>
                <a:cs typeface="+mn-lt"/>
              </a:rPr>
              <a:t>中断判断时，如果出错（虚拟地址不合法或者没有成功映射到物理地址），就杀死进程。</a:t>
            </a: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任务</a:t>
            </a:r>
            <a:r>
              <a:rPr kumimoji="0" lang="en-US" altLang="zh-CN"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2</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：实现懒分配功能</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（以 </a:t>
            </a: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echo hi </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命令测试） </a:t>
            </a:r>
            <a:endParaRPr lang="zh-CN" altLang="en-US" dirty="0">
              <a:solidFill>
                <a:srgbClr val="002060"/>
              </a:solidFill>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904785" cy="1761067"/>
          </a:xfrm>
        </p:spPr>
        <p:txBody>
          <a:bodyPr/>
          <a:lstStyle/>
          <a:p>
            <a:pPr marL="914400" marR="0" lvl="1" indent="-457200" algn="l" defTabSz="914400" rtl="0" eaLnBrk="1" fontAlgn="base" latinLnBrk="1" hangingPunct="1">
              <a:lnSpc>
                <a:spcPct val="150000"/>
              </a:lnSpc>
              <a:spcBef>
                <a:spcPct val="20000"/>
              </a:spcBef>
              <a:spcAft>
                <a:spcPct val="0"/>
              </a:spcAft>
              <a:buClr>
                <a:srgbClr val="8AC6CD"/>
              </a:buClr>
              <a:buSzPct val="120000"/>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rPr>
              <a:t>Uvmunmap</a:t>
            </a:r>
            <a:r>
              <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rPr>
              <a:t>()</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任务</a:t>
            </a:r>
            <a:r>
              <a:rPr kumimoji="0" lang="en-US" altLang="zh-CN"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2</a:t>
            </a:r>
            <a:r>
              <a:rPr kumimoji="0" lang="zh-CN" altLang="en-US" sz="3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：实现懒分配功能</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（以 </a:t>
            </a:r>
            <a:r>
              <a:rPr kumimoji="0"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echo hi </a:t>
            </a:r>
            <a:r>
              <a:rPr kumimoji="0"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j-cs"/>
                <a:sym typeface="+mn-ea"/>
              </a:rPr>
              <a:t>命令测试） </a:t>
            </a:r>
            <a:endParaRPr lang="zh-CN" altLang="en-US" dirty="0">
              <a:solidFill>
                <a:srgbClr val="002060"/>
              </a:solidFill>
              <a:sym typeface="+mn-ea"/>
            </a:endParaRPr>
          </a:p>
        </p:txBody>
      </p:sp>
      <p:sp>
        <p:nvSpPr>
          <p:cNvPr id="4" name="文本框 3">
            <a:extLst>
              <a:ext uri="{FF2B5EF4-FFF2-40B4-BE49-F238E27FC236}">
                <a16:creationId xmlns:a16="http://schemas.microsoft.com/office/drawing/2014/main" id="{410C91FE-939B-C19C-F25E-4D80CAFA7887}"/>
              </a:ext>
            </a:extLst>
          </p:cNvPr>
          <p:cNvSpPr txBox="1"/>
          <p:nvPr/>
        </p:nvSpPr>
        <p:spPr>
          <a:xfrm>
            <a:off x="838200" y="1463302"/>
            <a:ext cx="6096000" cy="1200329"/>
          </a:xfrm>
          <a:prstGeom prst="rect">
            <a:avLst/>
          </a:prstGeom>
          <a:noFill/>
        </p:spPr>
        <p:txBody>
          <a:bodyPr wrap="square">
            <a:spAutoFit/>
          </a:bodyPr>
          <a:lstStyle/>
          <a:p>
            <a:r>
              <a:rPr lang="en-US" altLang="zh-CN" b="0" i="0" dirty="0">
                <a:solidFill>
                  <a:srgbClr val="A626A4"/>
                </a:solidFill>
                <a:effectLst/>
                <a:latin typeface="ui-monospace"/>
              </a:rPr>
              <a:t>if</a:t>
            </a:r>
            <a:r>
              <a:rPr lang="en-US" altLang="zh-CN" b="0" i="0" dirty="0">
                <a:solidFill>
                  <a:srgbClr val="000000"/>
                </a:solidFill>
                <a:effectLst/>
                <a:latin typeface="ui-monospace"/>
              </a:rPr>
              <a:t>((</a:t>
            </a:r>
            <a:r>
              <a:rPr lang="en-US" altLang="zh-CN" b="0" i="0" dirty="0" err="1">
                <a:solidFill>
                  <a:srgbClr val="000000"/>
                </a:solidFill>
                <a:effectLst/>
                <a:latin typeface="ui-monospace"/>
              </a:rPr>
              <a:t>pte</a:t>
            </a:r>
            <a:r>
              <a:rPr lang="en-US" altLang="zh-CN" b="0" i="0" dirty="0">
                <a:solidFill>
                  <a:srgbClr val="000000"/>
                </a:solidFill>
                <a:effectLst/>
                <a:latin typeface="ui-monospace"/>
              </a:rPr>
              <a:t> = walk(</a:t>
            </a:r>
            <a:r>
              <a:rPr lang="en-US" altLang="zh-CN" b="0" i="0" dirty="0" err="1">
                <a:solidFill>
                  <a:srgbClr val="000000"/>
                </a:solidFill>
                <a:effectLst/>
                <a:latin typeface="ui-monospace"/>
              </a:rPr>
              <a:t>pagetable</a:t>
            </a:r>
            <a:r>
              <a:rPr lang="en-US" altLang="zh-CN" b="0" i="0" dirty="0">
                <a:solidFill>
                  <a:srgbClr val="000000"/>
                </a:solidFill>
                <a:effectLst/>
                <a:latin typeface="ui-monospace"/>
              </a:rPr>
              <a:t>, a, </a:t>
            </a:r>
            <a:r>
              <a:rPr lang="en-US" altLang="zh-CN" b="0" i="0" dirty="0">
                <a:solidFill>
                  <a:srgbClr val="986801"/>
                </a:solidFill>
                <a:effectLst/>
                <a:latin typeface="ui-monospace"/>
              </a:rPr>
              <a:t>0</a:t>
            </a:r>
            <a:r>
              <a:rPr lang="en-US" altLang="zh-CN" b="0" i="0" dirty="0">
                <a:solidFill>
                  <a:srgbClr val="000000"/>
                </a:solidFill>
                <a:effectLst/>
                <a:latin typeface="ui-monospace"/>
              </a:rPr>
              <a:t>)) == </a:t>
            </a:r>
            <a:r>
              <a:rPr lang="en-US" altLang="zh-CN" b="0" i="0" dirty="0">
                <a:solidFill>
                  <a:srgbClr val="986801"/>
                </a:solidFill>
                <a:effectLst/>
                <a:latin typeface="ui-monospace"/>
              </a:rPr>
              <a:t>0</a:t>
            </a:r>
            <a:r>
              <a:rPr lang="en-US" altLang="zh-CN" b="0" i="0" dirty="0">
                <a:solidFill>
                  <a:srgbClr val="000000"/>
                </a:solidFill>
                <a:effectLst/>
                <a:latin typeface="ui-monospace"/>
              </a:rPr>
              <a:t>) </a:t>
            </a:r>
          </a:p>
          <a:p>
            <a:r>
              <a:rPr lang="en-US" altLang="zh-CN" dirty="0">
                <a:solidFill>
                  <a:srgbClr val="000000"/>
                </a:solidFill>
                <a:latin typeface="ui-monospace"/>
              </a:rPr>
              <a:t>	</a:t>
            </a:r>
            <a:r>
              <a:rPr lang="en-US" altLang="zh-CN" b="0" i="0" dirty="0">
                <a:solidFill>
                  <a:srgbClr val="000000"/>
                </a:solidFill>
                <a:effectLst/>
                <a:latin typeface="ui-monospace"/>
              </a:rPr>
              <a:t>panic(</a:t>
            </a:r>
            <a:r>
              <a:rPr lang="en-US" altLang="zh-CN" b="0" i="0" dirty="0">
                <a:solidFill>
                  <a:srgbClr val="50A14F"/>
                </a:solidFill>
                <a:effectLst/>
                <a:latin typeface="ui-monospace"/>
              </a:rPr>
              <a:t>"</a:t>
            </a:r>
            <a:r>
              <a:rPr lang="en-US" altLang="zh-CN" b="0" i="0" dirty="0" err="1">
                <a:solidFill>
                  <a:srgbClr val="50A14F"/>
                </a:solidFill>
                <a:effectLst/>
                <a:latin typeface="ui-monospace"/>
              </a:rPr>
              <a:t>uvmunmap</a:t>
            </a:r>
            <a:r>
              <a:rPr lang="en-US" altLang="zh-CN" b="0" i="0" dirty="0">
                <a:solidFill>
                  <a:srgbClr val="50A14F"/>
                </a:solidFill>
                <a:effectLst/>
                <a:latin typeface="ui-monospace"/>
              </a:rPr>
              <a:t>: walk"</a:t>
            </a:r>
            <a:r>
              <a:rPr lang="en-US" altLang="zh-CN" b="0" i="0" dirty="0">
                <a:solidFill>
                  <a:srgbClr val="000000"/>
                </a:solidFill>
                <a:effectLst/>
                <a:latin typeface="ui-monospace"/>
              </a:rPr>
              <a:t>); </a:t>
            </a:r>
          </a:p>
          <a:p>
            <a:r>
              <a:rPr lang="en-US" altLang="zh-CN" b="0" i="0" dirty="0">
                <a:solidFill>
                  <a:srgbClr val="A626A4"/>
                </a:solidFill>
                <a:effectLst/>
                <a:latin typeface="ui-monospace"/>
              </a:rPr>
              <a:t>if</a:t>
            </a:r>
            <a:r>
              <a:rPr lang="en-US" altLang="zh-CN" b="0" i="0" dirty="0">
                <a:solidFill>
                  <a:srgbClr val="000000"/>
                </a:solidFill>
                <a:effectLst/>
                <a:latin typeface="ui-monospace"/>
              </a:rPr>
              <a:t>((*</a:t>
            </a:r>
            <a:r>
              <a:rPr lang="en-US" altLang="zh-CN" b="0" i="0" dirty="0" err="1">
                <a:solidFill>
                  <a:srgbClr val="000000"/>
                </a:solidFill>
                <a:effectLst/>
                <a:latin typeface="ui-monospace"/>
              </a:rPr>
              <a:t>pte</a:t>
            </a:r>
            <a:r>
              <a:rPr lang="en-US" altLang="zh-CN" b="0" i="0" dirty="0">
                <a:solidFill>
                  <a:srgbClr val="000000"/>
                </a:solidFill>
                <a:effectLst/>
                <a:latin typeface="ui-monospace"/>
              </a:rPr>
              <a:t> &amp; PTE_V) == </a:t>
            </a:r>
            <a:r>
              <a:rPr lang="en-US" altLang="zh-CN" b="0" i="0" dirty="0">
                <a:solidFill>
                  <a:srgbClr val="986801"/>
                </a:solidFill>
                <a:effectLst/>
                <a:latin typeface="ui-monospace"/>
              </a:rPr>
              <a:t>0</a:t>
            </a:r>
            <a:r>
              <a:rPr lang="en-US" altLang="zh-CN" b="0" i="0" dirty="0">
                <a:solidFill>
                  <a:srgbClr val="000000"/>
                </a:solidFill>
                <a:effectLst/>
                <a:latin typeface="ui-monospace"/>
              </a:rPr>
              <a:t>) </a:t>
            </a:r>
          </a:p>
          <a:p>
            <a:r>
              <a:rPr lang="en-US" altLang="zh-CN" dirty="0">
                <a:solidFill>
                  <a:srgbClr val="000000"/>
                </a:solidFill>
                <a:latin typeface="ui-monospace"/>
              </a:rPr>
              <a:t>	</a:t>
            </a:r>
            <a:r>
              <a:rPr lang="en-US" altLang="zh-CN" b="0" i="0" dirty="0">
                <a:solidFill>
                  <a:srgbClr val="000000"/>
                </a:solidFill>
                <a:effectLst/>
                <a:latin typeface="ui-monospace"/>
              </a:rPr>
              <a:t>panic(</a:t>
            </a:r>
            <a:r>
              <a:rPr lang="en-US" altLang="zh-CN" b="0" i="0" dirty="0">
                <a:solidFill>
                  <a:srgbClr val="50A14F"/>
                </a:solidFill>
                <a:effectLst/>
                <a:latin typeface="ui-monospace"/>
              </a:rPr>
              <a:t>"</a:t>
            </a:r>
            <a:r>
              <a:rPr lang="en-US" altLang="zh-CN" b="0" i="0" dirty="0" err="1">
                <a:solidFill>
                  <a:srgbClr val="50A14F"/>
                </a:solidFill>
                <a:effectLst/>
                <a:latin typeface="ui-monospace"/>
              </a:rPr>
              <a:t>uvmunmap</a:t>
            </a:r>
            <a:r>
              <a:rPr lang="en-US" altLang="zh-CN" b="0" i="0" dirty="0">
                <a:solidFill>
                  <a:srgbClr val="50A14F"/>
                </a:solidFill>
                <a:effectLst/>
                <a:latin typeface="ui-monospace"/>
              </a:rPr>
              <a:t>: not mapped"</a:t>
            </a:r>
            <a:r>
              <a:rPr lang="en-US" altLang="zh-CN" b="0" i="0" dirty="0">
                <a:solidFill>
                  <a:srgbClr val="000000"/>
                </a:solidFill>
                <a:effectLst/>
                <a:latin typeface="ui-monospace"/>
              </a:rPr>
              <a:t>);</a:t>
            </a:r>
            <a:endParaRPr lang="zh-CN" altLang="en-US" dirty="0"/>
          </a:p>
        </p:txBody>
      </p:sp>
      <p:sp>
        <p:nvSpPr>
          <p:cNvPr id="7" name="文本框 6">
            <a:extLst>
              <a:ext uri="{FF2B5EF4-FFF2-40B4-BE49-F238E27FC236}">
                <a16:creationId xmlns:a16="http://schemas.microsoft.com/office/drawing/2014/main" id="{A37F21F6-7EF2-2AC5-FA5A-E68123F4A69C}"/>
              </a:ext>
            </a:extLst>
          </p:cNvPr>
          <p:cNvSpPr txBox="1"/>
          <p:nvPr/>
        </p:nvSpPr>
        <p:spPr>
          <a:xfrm>
            <a:off x="728132" y="2782669"/>
            <a:ext cx="10295467" cy="646331"/>
          </a:xfrm>
          <a:prstGeom prst="rect">
            <a:avLst/>
          </a:prstGeom>
          <a:noFill/>
        </p:spPr>
        <p:txBody>
          <a:bodyPr wrap="square">
            <a:spAutoFit/>
          </a:bodyPr>
          <a:lstStyle/>
          <a:p>
            <a:r>
              <a:rPr lang="zh-CN" altLang="en-US" b="0" i="0" dirty="0">
                <a:solidFill>
                  <a:srgbClr val="000000"/>
                </a:solidFill>
                <a:effectLst/>
                <a:latin typeface="-apple-system"/>
              </a:rPr>
              <a:t>当 </a:t>
            </a:r>
            <a:r>
              <a:rPr lang="en-US" altLang="zh-CN" b="0" i="0" dirty="0" err="1">
                <a:solidFill>
                  <a:srgbClr val="000000"/>
                </a:solidFill>
                <a:effectLst/>
                <a:latin typeface="ui-monospace"/>
              </a:rPr>
              <a:t>uvmunmap</a:t>
            </a:r>
            <a:r>
              <a:rPr lang="zh-CN" altLang="en-US" b="0" i="0" dirty="0">
                <a:solidFill>
                  <a:srgbClr val="000000"/>
                </a:solidFill>
                <a:effectLst/>
                <a:latin typeface="-apple-system"/>
              </a:rPr>
              <a:t>尝试取消映射一个虚拟地址时，发现对应的页表项（</a:t>
            </a:r>
            <a:r>
              <a:rPr lang="en-US" altLang="zh-CN" b="0" i="0" dirty="0">
                <a:solidFill>
                  <a:srgbClr val="000000"/>
                </a:solidFill>
                <a:effectLst/>
                <a:latin typeface="-apple-system"/>
              </a:rPr>
              <a:t>PTE</a:t>
            </a:r>
            <a:r>
              <a:rPr lang="zh-CN" altLang="en-US" b="0" i="0" dirty="0">
                <a:solidFill>
                  <a:srgbClr val="000000"/>
                </a:solidFill>
                <a:effectLst/>
                <a:latin typeface="-apple-system"/>
              </a:rPr>
              <a:t>）要么根本不存在（</a:t>
            </a:r>
            <a:r>
              <a:rPr lang="en-US" altLang="zh-CN" b="0" i="0" dirty="0">
                <a:solidFill>
                  <a:srgbClr val="000000"/>
                </a:solidFill>
                <a:effectLst/>
                <a:latin typeface="ui-monospace"/>
              </a:rPr>
              <a:t>walk</a:t>
            </a:r>
            <a:r>
              <a:rPr lang="zh-CN" altLang="en-US" b="0" i="0" dirty="0">
                <a:solidFill>
                  <a:srgbClr val="000000"/>
                </a:solidFill>
                <a:effectLst/>
                <a:latin typeface="-apple-system"/>
              </a:rPr>
              <a:t>返回</a:t>
            </a:r>
            <a:r>
              <a:rPr lang="en-US" altLang="zh-CN" b="0" i="0" dirty="0">
                <a:solidFill>
                  <a:srgbClr val="000000"/>
                </a:solidFill>
                <a:effectLst/>
                <a:latin typeface="-apple-system"/>
              </a:rPr>
              <a:t>0</a:t>
            </a:r>
            <a:r>
              <a:rPr lang="zh-CN" altLang="en-US" b="0" i="0" dirty="0">
                <a:solidFill>
                  <a:srgbClr val="000000"/>
                </a:solidFill>
                <a:effectLst/>
                <a:latin typeface="-apple-system"/>
              </a:rPr>
              <a:t>），要么存在但无效（</a:t>
            </a:r>
            <a:r>
              <a:rPr lang="en-US" altLang="zh-CN" b="0" i="0" dirty="0">
                <a:solidFill>
                  <a:srgbClr val="000000"/>
                </a:solidFill>
                <a:effectLst/>
                <a:latin typeface="ui-monospace"/>
              </a:rPr>
              <a:t>PTE_V</a:t>
            </a:r>
            <a:r>
              <a:rPr lang="zh-CN" altLang="en-US" b="0" i="0" dirty="0">
                <a:solidFill>
                  <a:srgbClr val="000000"/>
                </a:solidFill>
                <a:effectLst/>
                <a:latin typeface="-apple-system"/>
              </a:rPr>
              <a:t>位没有设置）。</a:t>
            </a:r>
            <a:endParaRPr lang="zh-CN" altLang="en-US" dirty="0"/>
          </a:p>
        </p:txBody>
      </p:sp>
      <p:sp>
        <p:nvSpPr>
          <p:cNvPr id="9" name="文本框 8">
            <a:extLst>
              <a:ext uri="{FF2B5EF4-FFF2-40B4-BE49-F238E27FC236}">
                <a16:creationId xmlns:a16="http://schemas.microsoft.com/office/drawing/2014/main" id="{DE9A5E9F-1DBA-F675-6514-219AC12F8780}"/>
              </a:ext>
            </a:extLst>
          </p:cNvPr>
          <p:cNvSpPr txBox="1"/>
          <p:nvPr/>
        </p:nvSpPr>
        <p:spPr>
          <a:xfrm>
            <a:off x="728132" y="3531105"/>
            <a:ext cx="10193868" cy="2089675"/>
          </a:xfrm>
          <a:prstGeom prst="rect">
            <a:avLst/>
          </a:prstGeom>
          <a:noFill/>
        </p:spPr>
        <p:txBody>
          <a:bodyPr wrap="square">
            <a:spAutoFit/>
          </a:bodyPr>
          <a:lstStyle/>
          <a:p>
            <a:pPr algn="l" fontAlgn="base">
              <a:spcBef>
                <a:spcPts val="1200"/>
              </a:spcBef>
              <a:spcAft>
                <a:spcPts val="750"/>
              </a:spcAft>
              <a:buFont typeface="Arial" panose="020B0604020202020204" pitchFamily="34" charset="0"/>
              <a:buChar char="•"/>
            </a:pPr>
            <a:r>
              <a:rPr lang="zh-CN" altLang="en-US" b="1" dirty="0">
                <a:effectLst/>
                <a:latin typeface="inherit"/>
              </a:rPr>
              <a:t>实际中何时会发生？</a:t>
            </a:r>
            <a:endParaRPr lang="en-US" altLang="zh-CN" b="1" dirty="0">
              <a:effectLst/>
              <a:latin typeface="inherit"/>
            </a:endParaRPr>
          </a:p>
          <a:p>
            <a:pPr lvl="1">
              <a:lnSpc>
                <a:spcPct val="150000"/>
              </a:lnSpc>
              <a:defRPr/>
            </a:pPr>
            <a:r>
              <a:rPr lang="zh-CN" altLang="en-US" dirty="0">
                <a:solidFill>
                  <a:srgbClr val="000000"/>
                </a:solidFill>
                <a:latin typeface="-apple-system"/>
              </a:rPr>
              <a:t> </a:t>
            </a:r>
            <a:r>
              <a:rPr lang="en-US" altLang="zh-CN" dirty="0" err="1">
                <a:solidFill>
                  <a:srgbClr val="000000"/>
                </a:solidFill>
                <a:latin typeface="-apple-system"/>
              </a:rPr>
              <a:t>uvmunmap</a:t>
            </a:r>
            <a:r>
              <a:rPr lang="en-US" altLang="zh-CN" dirty="0">
                <a:solidFill>
                  <a:srgbClr val="000000"/>
                </a:solidFill>
                <a:latin typeface="-apple-system"/>
              </a:rPr>
              <a:t>()</a:t>
            </a:r>
            <a:r>
              <a:rPr lang="zh-CN" altLang="en-US" dirty="0">
                <a:solidFill>
                  <a:srgbClr val="000000"/>
                </a:solidFill>
                <a:latin typeface="-apple-system"/>
              </a:rPr>
              <a:t>调用 </a:t>
            </a:r>
            <a:r>
              <a:rPr lang="en-US" altLang="zh-CN" dirty="0">
                <a:solidFill>
                  <a:srgbClr val="000000"/>
                </a:solidFill>
                <a:latin typeface="-apple-system"/>
              </a:rPr>
              <a:t>walk()</a:t>
            </a:r>
            <a:r>
              <a:rPr lang="zh-CN" altLang="en-US" dirty="0">
                <a:solidFill>
                  <a:srgbClr val="000000"/>
                </a:solidFill>
                <a:latin typeface="-apple-system"/>
              </a:rPr>
              <a:t>来获取 </a:t>
            </a:r>
            <a:r>
              <a:rPr lang="en-US" altLang="zh-CN" dirty="0">
                <a:solidFill>
                  <a:srgbClr val="000000"/>
                </a:solidFill>
                <a:latin typeface="-apple-system"/>
              </a:rPr>
              <a:t>PTE</a:t>
            </a:r>
            <a:r>
              <a:rPr lang="zh-CN" altLang="en-US" dirty="0">
                <a:solidFill>
                  <a:srgbClr val="000000"/>
                </a:solidFill>
                <a:latin typeface="-apple-system"/>
              </a:rPr>
              <a:t>。</a:t>
            </a:r>
            <a:r>
              <a:rPr lang="en-US" altLang="zh-CN" dirty="0">
                <a:solidFill>
                  <a:srgbClr val="000000"/>
                </a:solidFill>
                <a:latin typeface="-apple-system"/>
              </a:rPr>
              <a:t>walk()</a:t>
            </a:r>
            <a:r>
              <a:rPr lang="zh-CN" altLang="en-US" dirty="0">
                <a:solidFill>
                  <a:srgbClr val="000000"/>
                </a:solidFill>
                <a:latin typeface="-apple-system"/>
              </a:rPr>
              <a:t>可以根据虚拟地址 </a:t>
            </a:r>
            <a:r>
              <a:rPr lang="en-US" altLang="zh-CN" dirty="0" err="1">
                <a:solidFill>
                  <a:srgbClr val="000000"/>
                </a:solidFill>
                <a:latin typeface="-apple-system"/>
              </a:rPr>
              <a:t>va</a:t>
            </a:r>
            <a:r>
              <a:rPr lang="en-US" altLang="zh-CN" dirty="0">
                <a:solidFill>
                  <a:srgbClr val="000000"/>
                </a:solidFill>
                <a:latin typeface="-apple-system"/>
              </a:rPr>
              <a:t> </a:t>
            </a:r>
            <a:r>
              <a:rPr lang="zh-CN" altLang="en-US" dirty="0">
                <a:solidFill>
                  <a:srgbClr val="000000"/>
                </a:solidFill>
                <a:latin typeface="-apple-system"/>
              </a:rPr>
              <a:t>得到其相应页表中对应的</a:t>
            </a:r>
            <a:r>
              <a:rPr lang="en-US" altLang="zh-CN" dirty="0">
                <a:solidFill>
                  <a:srgbClr val="000000"/>
                </a:solidFill>
                <a:latin typeface="-apple-system"/>
              </a:rPr>
              <a:t>PTE</a:t>
            </a:r>
            <a:r>
              <a:rPr lang="zh-CN" altLang="en-US" dirty="0">
                <a:solidFill>
                  <a:srgbClr val="000000"/>
                </a:solidFill>
                <a:latin typeface="-apple-system"/>
              </a:rPr>
              <a:t>。</a:t>
            </a:r>
            <a:r>
              <a:rPr lang="en-US" altLang="zh-CN" dirty="0">
                <a:solidFill>
                  <a:srgbClr val="000000"/>
                </a:solidFill>
                <a:latin typeface="-apple-system"/>
              </a:rPr>
              <a:t>xv6 </a:t>
            </a:r>
            <a:r>
              <a:rPr lang="zh-CN" altLang="en-US" dirty="0">
                <a:solidFill>
                  <a:srgbClr val="000000"/>
                </a:solidFill>
                <a:latin typeface="-apple-system"/>
              </a:rPr>
              <a:t>采用三级页表结构，由于我们实现了懒分配，即未分配 </a:t>
            </a:r>
            <a:r>
              <a:rPr lang="en-US" altLang="zh-CN" dirty="0" err="1">
                <a:solidFill>
                  <a:srgbClr val="000000"/>
                </a:solidFill>
                <a:latin typeface="-apple-system"/>
              </a:rPr>
              <a:t>va</a:t>
            </a:r>
            <a:r>
              <a:rPr lang="en-US" altLang="zh-CN" dirty="0">
                <a:solidFill>
                  <a:srgbClr val="000000"/>
                </a:solidFill>
                <a:latin typeface="-apple-system"/>
              </a:rPr>
              <a:t> </a:t>
            </a:r>
            <a:r>
              <a:rPr lang="zh-CN" altLang="en-US" dirty="0">
                <a:solidFill>
                  <a:srgbClr val="000000"/>
                </a:solidFill>
                <a:latin typeface="-apple-system"/>
              </a:rPr>
              <a:t>对应的物理内存，因此</a:t>
            </a:r>
            <a:r>
              <a:rPr lang="en-US" altLang="zh-CN" dirty="0">
                <a:solidFill>
                  <a:srgbClr val="000000"/>
                </a:solidFill>
                <a:latin typeface="-apple-system"/>
              </a:rPr>
              <a:t>L2 </a:t>
            </a:r>
            <a:r>
              <a:rPr lang="zh-CN" altLang="en-US" dirty="0">
                <a:solidFill>
                  <a:srgbClr val="000000"/>
                </a:solidFill>
                <a:latin typeface="-apple-system"/>
              </a:rPr>
              <a:t>或 </a:t>
            </a:r>
            <a:r>
              <a:rPr lang="en-US" altLang="zh-CN" dirty="0">
                <a:solidFill>
                  <a:srgbClr val="000000"/>
                </a:solidFill>
                <a:latin typeface="-apple-system"/>
              </a:rPr>
              <a:t>L1 </a:t>
            </a:r>
            <a:r>
              <a:rPr lang="zh-CN" altLang="en-US" dirty="0">
                <a:solidFill>
                  <a:srgbClr val="000000"/>
                </a:solidFill>
                <a:latin typeface="-apple-system"/>
              </a:rPr>
              <a:t>或 </a:t>
            </a:r>
            <a:r>
              <a:rPr lang="en-US" altLang="zh-CN" dirty="0">
                <a:solidFill>
                  <a:srgbClr val="000000"/>
                </a:solidFill>
                <a:latin typeface="-apple-system"/>
              </a:rPr>
              <a:t>L0 </a:t>
            </a:r>
            <a:r>
              <a:rPr lang="zh-CN" altLang="en-US" dirty="0">
                <a:solidFill>
                  <a:srgbClr val="000000"/>
                </a:solidFill>
                <a:latin typeface="-apple-system"/>
              </a:rPr>
              <a:t>的 </a:t>
            </a:r>
            <a:r>
              <a:rPr lang="en-US" altLang="zh-CN" dirty="0">
                <a:solidFill>
                  <a:srgbClr val="000000"/>
                </a:solidFill>
                <a:latin typeface="-apple-system"/>
              </a:rPr>
              <a:t>PTE </a:t>
            </a:r>
            <a:r>
              <a:rPr lang="zh-CN" altLang="en-US" dirty="0">
                <a:solidFill>
                  <a:srgbClr val="000000"/>
                </a:solidFill>
                <a:latin typeface="-apple-system"/>
              </a:rPr>
              <a:t>都可能不存在，这会导致 </a:t>
            </a:r>
            <a:r>
              <a:rPr lang="en-US" altLang="zh-CN" dirty="0">
                <a:solidFill>
                  <a:srgbClr val="000000"/>
                </a:solidFill>
                <a:latin typeface="-apple-system"/>
              </a:rPr>
              <a:t>walk()</a:t>
            </a:r>
            <a:r>
              <a:rPr lang="zh-CN" altLang="en-US" dirty="0">
                <a:solidFill>
                  <a:srgbClr val="000000"/>
                </a:solidFill>
                <a:latin typeface="-apple-system"/>
              </a:rPr>
              <a:t>返回 </a:t>
            </a:r>
            <a:r>
              <a:rPr lang="en-US" altLang="zh-CN" dirty="0">
                <a:solidFill>
                  <a:srgbClr val="000000"/>
                </a:solidFill>
                <a:latin typeface="-apple-system"/>
              </a:rPr>
              <a:t>0</a:t>
            </a:r>
            <a:r>
              <a:rPr lang="zh-CN" altLang="en-US" dirty="0">
                <a:solidFill>
                  <a:srgbClr val="000000"/>
                </a:solidFill>
                <a:latin typeface="-apple-system"/>
              </a:rPr>
              <a:t>，即</a:t>
            </a:r>
            <a:r>
              <a:rPr lang="en-US" altLang="zh-CN" dirty="0">
                <a:solidFill>
                  <a:srgbClr val="000000"/>
                </a:solidFill>
                <a:latin typeface="-apple-system"/>
              </a:rPr>
              <a:t>(</a:t>
            </a:r>
            <a:r>
              <a:rPr lang="en-US" altLang="zh-CN" dirty="0" err="1">
                <a:solidFill>
                  <a:srgbClr val="000000"/>
                </a:solidFill>
                <a:latin typeface="-apple-system"/>
              </a:rPr>
              <a:t>pte</a:t>
            </a:r>
            <a:r>
              <a:rPr lang="en-US" altLang="zh-CN" dirty="0">
                <a:solidFill>
                  <a:srgbClr val="000000"/>
                </a:solidFill>
                <a:latin typeface="-apple-system"/>
              </a:rPr>
              <a:t> = walk(</a:t>
            </a:r>
            <a:r>
              <a:rPr lang="en-US" altLang="zh-CN" dirty="0" err="1">
                <a:solidFill>
                  <a:srgbClr val="000000"/>
                </a:solidFill>
                <a:latin typeface="-apple-system"/>
              </a:rPr>
              <a:t>pagetable</a:t>
            </a:r>
            <a:r>
              <a:rPr lang="en-US" altLang="zh-CN" dirty="0">
                <a:solidFill>
                  <a:srgbClr val="000000"/>
                </a:solidFill>
                <a:latin typeface="-apple-system"/>
              </a:rPr>
              <a:t>, a, 0)) == 0 </a:t>
            </a:r>
            <a:r>
              <a:rPr lang="zh-CN" altLang="en-US" dirty="0">
                <a:solidFill>
                  <a:srgbClr val="000000"/>
                </a:solidFill>
                <a:latin typeface="-apple-system"/>
              </a:rPr>
              <a:t>成立而引发 </a:t>
            </a:r>
            <a:r>
              <a:rPr lang="en-US" altLang="zh-CN" dirty="0">
                <a:solidFill>
                  <a:srgbClr val="000000"/>
                </a:solidFill>
                <a:latin typeface="-apple-system"/>
              </a:rPr>
              <a:t>panic</a:t>
            </a:r>
            <a:r>
              <a:rPr lang="zh-CN" altLang="en-US" dirty="0">
                <a:solidFill>
                  <a:srgbClr val="000000"/>
                </a:solidFill>
                <a:latin typeface="-apple-system"/>
              </a:rPr>
              <a:t>。但是未分配 </a:t>
            </a:r>
            <a:r>
              <a:rPr lang="en-US" altLang="zh-CN" dirty="0">
                <a:solidFill>
                  <a:srgbClr val="000000"/>
                </a:solidFill>
                <a:latin typeface="-apple-system"/>
              </a:rPr>
              <a:t>PTE </a:t>
            </a:r>
            <a:r>
              <a:rPr lang="zh-CN" altLang="en-US" dirty="0">
                <a:solidFill>
                  <a:srgbClr val="000000"/>
                </a:solidFill>
                <a:latin typeface="-apple-system"/>
              </a:rPr>
              <a:t>是由于本实验实现了懒分配，不应触发错误。 </a:t>
            </a:r>
            <a:endParaRPr lang="en-US" altLang="zh-CN" dirty="0">
              <a:solidFill>
                <a:srgbClr val="000000"/>
              </a:solidFill>
              <a:latin typeface="-apple-system"/>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1546" y="987426"/>
            <a:ext cx="11904785" cy="5811308"/>
          </a:xfrm>
        </p:spPr>
        <p:txBody>
          <a:bodyPr/>
          <a:lstStyle/>
          <a:p>
            <a:pPr lvl="1" indent="-457200">
              <a:lnSpc>
                <a:spcPct val="150000"/>
              </a:lnSpc>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实验任务</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在 </a:t>
            </a:r>
            <a:r>
              <a:rPr lang="en-US" altLang="zh-CN" sz="2000" dirty="0">
                <a:latin typeface="微软雅黑" panose="020B0503020204020204" pitchFamily="34" charset="-122"/>
                <a:ea typeface="微软雅黑" panose="020B0503020204020204" pitchFamily="34" charset="-122"/>
                <a:cs typeface="+mn-lt"/>
              </a:rPr>
              <a:t>xv6 </a:t>
            </a:r>
            <a:r>
              <a:rPr lang="zh-CN" altLang="en-US" sz="2000" dirty="0">
                <a:latin typeface="微软雅黑" panose="020B0503020204020204" pitchFamily="34" charset="-122"/>
                <a:ea typeface="微软雅黑" panose="020B0503020204020204" pitchFamily="34" charset="-122"/>
                <a:cs typeface="+mn-lt"/>
              </a:rPr>
              <a:t>环任务三是需要通过所有的测试用例。主要是两个函数的异常处理，一个是 </a:t>
            </a:r>
            <a:r>
              <a:rPr lang="en-US" altLang="zh-CN" sz="2000" dirty="0" err="1">
                <a:latin typeface="微软雅黑" panose="020B0503020204020204" pitchFamily="34" charset="-122"/>
                <a:ea typeface="微软雅黑" panose="020B0503020204020204" pitchFamily="34" charset="-122"/>
                <a:cs typeface="+mn-lt"/>
              </a:rPr>
              <a:t>uvmcopy</a:t>
            </a:r>
            <a:r>
              <a:rPr lang="zh-CN" altLang="en-US" sz="2000" dirty="0">
                <a:latin typeface="微软雅黑" panose="020B0503020204020204" pitchFamily="34" charset="-122"/>
                <a:ea typeface="微软雅黑" panose="020B0503020204020204" pitchFamily="34" charset="-122"/>
                <a:cs typeface="+mn-lt"/>
              </a:rPr>
              <a:t>，另一个是 </a:t>
            </a:r>
            <a:r>
              <a:rPr lang="en-US" altLang="zh-CN" sz="2000" dirty="0" err="1">
                <a:latin typeface="微软雅黑" panose="020B0503020204020204" pitchFamily="34" charset="-122"/>
                <a:ea typeface="微软雅黑" panose="020B0503020204020204" pitchFamily="34" charset="-122"/>
                <a:cs typeface="+mn-lt"/>
              </a:rPr>
              <a:t>walkaddr</a:t>
            </a:r>
            <a:r>
              <a:rPr lang="zh-CN" altLang="en-US" sz="2000" dirty="0">
                <a:latin typeface="微软雅黑" panose="020B0503020204020204" pitchFamily="34" charset="-122"/>
                <a:ea typeface="微软雅黑" panose="020B0503020204020204" pitchFamily="34" charset="-122"/>
                <a:cs typeface="+mn-lt"/>
              </a:rPr>
              <a:t>。</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10762"/>
            <a:ext cx="11904785" cy="4697371"/>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uvmcopy</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err="1">
                <a:latin typeface="微软雅黑" panose="020B0503020204020204" pitchFamily="34" charset="-122"/>
                <a:ea typeface="微软雅黑" panose="020B0503020204020204" pitchFamily="34" charset="-122"/>
                <a:cs typeface="+mn-lt"/>
              </a:rPr>
              <a:t>uvmcopy</a:t>
            </a:r>
            <a:r>
              <a:rPr lang="zh-CN" altLang="en-US" sz="2000" dirty="0">
                <a:latin typeface="微软雅黑" panose="020B0503020204020204" pitchFamily="34" charset="-122"/>
                <a:ea typeface="微软雅黑" panose="020B0503020204020204" pitchFamily="34" charset="-122"/>
                <a:cs typeface="+mn-lt"/>
              </a:rPr>
              <a:t>函数的作用是：为子进程创建一份与父进程完全相同的、物理内存独立的地址空间副本</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fork()</a:t>
            </a:r>
            <a:r>
              <a:rPr lang="zh-CN" altLang="en-US" sz="2000" dirty="0">
                <a:latin typeface="微软雅黑" panose="020B0503020204020204" pitchFamily="34" charset="-122"/>
                <a:ea typeface="微软雅黑" panose="020B0503020204020204" pitchFamily="34" charset="-122"/>
                <a:cs typeface="+mn-lt"/>
              </a:rPr>
              <a:t>是通过 </a:t>
            </a:r>
            <a:r>
              <a:rPr lang="en-US" altLang="zh-CN" sz="2000" dirty="0" err="1">
                <a:latin typeface="微软雅黑" panose="020B0503020204020204" pitchFamily="34" charset="-122"/>
                <a:ea typeface="微软雅黑" panose="020B0503020204020204" pitchFamily="34" charset="-122"/>
                <a:cs typeface="+mn-lt"/>
              </a:rPr>
              <a:t>uvmcopy</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函数来进行父进程页表（即用户空间）向子进程的拷贝的。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fork </a:t>
            </a:r>
            <a:r>
              <a:rPr lang="zh-CN" altLang="en-US" sz="2000" dirty="0">
                <a:latin typeface="微软雅黑" panose="020B0503020204020204" pitchFamily="34" charset="-122"/>
                <a:ea typeface="微软雅黑" panose="020B0503020204020204" pitchFamily="34" charset="-122"/>
                <a:cs typeface="+mn-lt"/>
              </a:rPr>
              <a:t>函数在创建进程时会调用 </a:t>
            </a:r>
            <a:r>
              <a:rPr lang="en-US" altLang="zh-CN" sz="2000" dirty="0" err="1">
                <a:latin typeface="微软雅黑" panose="020B0503020204020204" pitchFamily="34" charset="-122"/>
                <a:ea typeface="微软雅黑" panose="020B0503020204020204" pitchFamily="34" charset="-122"/>
                <a:cs typeface="+mn-lt"/>
              </a:rPr>
              <a:t>uvmcopy</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函数。由于没有实际分配内存，因此，忽略 </a:t>
            </a:r>
            <a:r>
              <a:rPr lang="en-US" altLang="zh-CN" sz="2000" dirty="0" err="1">
                <a:latin typeface="微软雅黑" panose="020B0503020204020204" pitchFamily="34" charset="-122"/>
                <a:ea typeface="微软雅黑" panose="020B0503020204020204" pitchFamily="34" charset="-122"/>
                <a:cs typeface="+mn-lt"/>
              </a:rPr>
              <a:t>pte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无效，继续执行代码。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2" name="图片 1">
            <a:extLst>
              <a:ext uri="{FF2B5EF4-FFF2-40B4-BE49-F238E27FC236}">
                <a16:creationId xmlns:a16="http://schemas.microsoft.com/office/drawing/2014/main" id="{75509505-A974-72D5-5DDD-FD09C97ECF3F}"/>
              </a:ext>
            </a:extLst>
          </p:cNvPr>
          <p:cNvPicPr>
            <a:picLocks noChangeAspect="1"/>
          </p:cNvPicPr>
          <p:nvPr/>
        </p:nvPicPr>
        <p:blipFill>
          <a:blip r:embed="rId3"/>
          <a:stretch>
            <a:fillRect/>
          </a:stretch>
        </p:blipFill>
        <p:spPr>
          <a:xfrm>
            <a:off x="3258908" y="3904570"/>
            <a:ext cx="5250092" cy="21761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1145931"/>
            <a:ext cx="11904785" cy="4569070"/>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Walkaddr</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walkaddr</a:t>
            </a:r>
            <a:r>
              <a:rPr lang="zh-CN" altLang="en-US" sz="2000" dirty="0">
                <a:latin typeface="微软雅黑" panose="020B0503020204020204" pitchFamily="34" charset="-122"/>
                <a:ea typeface="微软雅黑" panose="020B0503020204020204" pitchFamily="34" charset="-122"/>
                <a:cs typeface="+mn-lt"/>
              </a:rPr>
              <a:t>函数的作用是：将用户空间的虚拟地址翻译成内核可以直接访问的物理地址，并在过程中进行严格的安全检查。       </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函数通过调用 </a:t>
            </a:r>
            <a:r>
              <a:rPr lang="en-US" altLang="zh-CN" sz="2000" dirty="0">
                <a:latin typeface="微软雅黑" panose="020B0503020204020204" pitchFamily="34" charset="-122"/>
                <a:ea typeface="微软雅黑" panose="020B0503020204020204" pitchFamily="34" charset="-122"/>
                <a:cs typeface="+mn-lt"/>
              </a:rPr>
              <a:t>walk() </a:t>
            </a:r>
            <a:r>
              <a:rPr lang="zh-CN" altLang="en-US" sz="2000" dirty="0">
                <a:latin typeface="微软雅黑" panose="020B0503020204020204" pitchFamily="34" charset="-122"/>
                <a:ea typeface="微软雅黑" panose="020B0503020204020204" pitchFamily="34" charset="-122"/>
                <a:cs typeface="+mn-lt"/>
              </a:rPr>
              <a:t>根据虚拟地址 </a:t>
            </a:r>
            <a:r>
              <a:rPr lang="en-US" altLang="zh-CN" sz="2000" dirty="0" err="1">
                <a:latin typeface="微软雅黑" panose="020B0503020204020204" pitchFamily="34" charset="-122"/>
                <a:ea typeface="微软雅黑" panose="020B0503020204020204" pitchFamily="34" charset="-122"/>
                <a:cs typeface="+mn-lt"/>
              </a:rPr>
              <a:t>va</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和页表 </a:t>
            </a:r>
            <a:r>
              <a:rPr lang="en-US" altLang="zh-CN" sz="2000" dirty="0" err="1">
                <a:latin typeface="微软雅黑" panose="020B0503020204020204" pitchFamily="34" charset="-122"/>
                <a:ea typeface="微软雅黑" panose="020B0503020204020204" pitchFamily="34" charset="-122"/>
                <a:cs typeface="+mn-lt"/>
              </a:rPr>
              <a:t>pagetable</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得到页表项 </a:t>
            </a:r>
            <a:r>
              <a:rPr lang="en-US" altLang="zh-CN" sz="2000" dirty="0">
                <a:latin typeface="微软雅黑" panose="020B0503020204020204" pitchFamily="34" charset="-122"/>
                <a:ea typeface="微软雅黑" panose="020B0503020204020204" pitchFamily="34" charset="-122"/>
                <a:cs typeface="+mn-lt"/>
              </a:rPr>
              <a:t>PTE</a:t>
            </a:r>
            <a:r>
              <a:rPr lang="zh-CN" altLang="en-US" sz="2000" dirty="0">
                <a:latin typeface="微软雅黑" panose="020B0503020204020204" pitchFamily="34" charset="-122"/>
                <a:ea typeface="微软雅黑" panose="020B0503020204020204" pitchFamily="34" charset="-122"/>
                <a:cs typeface="+mn-lt"/>
              </a:rPr>
              <a:t>。获得</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后，</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a:t>
            </a:r>
            <a:r>
              <a:rPr lang="zh-CN" altLang="en-US" sz="2000" dirty="0">
                <a:latin typeface="微软雅黑" panose="020B0503020204020204" pitchFamily="34" charset="-122"/>
                <a:ea typeface="微软雅黑" panose="020B0503020204020204" pitchFamily="34" charset="-122"/>
                <a:cs typeface="+mn-lt"/>
              </a:rPr>
              <a:t>会对其进行错误检测和相应处理，当 </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不存在、</a:t>
            </a:r>
            <a:r>
              <a:rPr lang="en-US" altLang="zh-CN" sz="2000" dirty="0">
                <a:latin typeface="微软雅黑" panose="020B0503020204020204" pitchFamily="34" charset="-122"/>
                <a:ea typeface="微软雅黑" panose="020B0503020204020204" pitchFamily="34" charset="-122"/>
                <a:cs typeface="+mn-lt"/>
              </a:rPr>
              <a:t>PTE </a:t>
            </a:r>
            <a:r>
              <a:rPr lang="zh-CN" altLang="en-US" sz="2000" dirty="0">
                <a:latin typeface="微软雅黑" panose="020B0503020204020204" pitchFamily="34" charset="-122"/>
                <a:ea typeface="微软雅黑" panose="020B0503020204020204" pitchFamily="34" charset="-122"/>
                <a:cs typeface="+mn-lt"/>
              </a:rPr>
              <a:t>无效（</a:t>
            </a:r>
            <a:r>
              <a:rPr lang="en-US" altLang="zh-CN" sz="2000" dirty="0">
                <a:latin typeface="微软雅黑" panose="020B0503020204020204" pitchFamily="34" charset="-122"/>
                <a:ea typeface="微软雅黑" panose="020B0503020204020204" pitchFamily="34" charset="-122"/>
                <a:cs typeface="+mn-lt"/>
              </a:rPr>
              <a:t>PTE_V </a:t>
            </a:r>
            <a:r>
              <a:rPr lang="zh-CN" altLang="en-US" sz="2000" dirty="0">
                <a:latin typeface="微软雅黑" panose="020B0503020204020204" pitchFamily="34" charset="-122"/>
                <a:ea typeface="微软雅黑" panose="020B0503020204020204" pitchFamily="34" charset="-122"/>
                <a:cs typeface="+mn-lt"/>
              </a:rPr>
              <a:t>标志位为 </a:t>
            </a:r>
            <a:r>
              <a:rPr lang="en-US" altLang="zh-CN" sz="2000" dirty="0">
                <a:latin typeface="微软雅黑" panose="020B0503020204020204" pitchFamily="34" charset="-122"/>
                <a:ea typeface="微软雅黑" panose="020B0503020204020204" pitchFamily="34" charset="-122"/>
                <a:cs typeface="+mn-lt"/>
              </a:rPr>
              <a:t>0</a:t>
            </a:r>
            <a:r>
              <a:rPr lang="zh-CN" altLang="en-US" sz="2000" dirty="0">
                <a:latin typeface="微软雅黑" panose="020B0503020204020204" pitchFamily="34" charset="-122"/>
                <a:ea typeface="微软雅黑" panose="020B0503020204020204" pitchFamily="34" charset="-122"/>
                <a:cs typeface="+mn-lt"/>
              </a:rPr>
              <a:t>）、</a:t>
            </a:r>
            <a:r>
              <a:rPr lang="en-US" altLang="zh-CN" sz="2000" dirty="0">
                <a:latin typeface="微软雅黑" panose="020B0503020204020204" pitchFamily="34" charset="-122"/>
                <a:ea typeface="微软雅黑" panose="020B0503020204020204" pitchFamily="34" charset="-122"/>
                <a:cs typeface="+mn-lt"/>
              </a:rPr>
              <a:t>PTE_U </a:t>
            </a:r>
            <a:r>
              <a:rPr lang="zh-CN" altLang="en-US" sz="2000" dirty="0">
                <a:latin typeface="微软雅黑" panose="020B0503020204020204" pitchFamily="34" charset="-122"/>
                <a:ea typeface="微软雅黑" panose="020B0503020204020204" pitchFamily="34" charset="-122"/>
                <a:cs typeface="+mn-lt"/>
              </a:rPr>
              <a:t>标志位为 </a:t>
            </a:r>
            <a:r>
              <a:rPr lang="en-US" altLang="zh-CN" sz="2000" dirty="0">
                <a:latin typeface="微软雅黑" panose="020B0503020204020204" pitchFamily="34" charset="-122"/>
                <a:ea typeface="微软雅黑" panose="020B0503020204020204" pitchFamily="34" charset="-122"/>
                <a:cs typeface="+mn-lt"/>
              </a:rPr>
              <a:t>0 </a:t>
            </a:r>
            <a:r>
              <a:rPr lang="zh-CN" altLang="en-US" sz="2000" dirty="0">
                <a:latin typeface="微软雅黑" panose="020B0503020204020204" pitchFamily="34" charset="-122"/>
                <a:ea typeface="微软雅黑" panose="020B0503020204020204" pitchFamily="34" charset="-122"/>
                <a:cs typeface="+mn-lt"/>
              </a:rPr>
              <a:t>时，都会返回 </a:t>
            </a:r>
            <a:r>
              <a:rPr lang="en-US" altLang="zh-CN" sz="2000" dirty="0">
                <a:latin typeface="微软雅黑" panose="020B0503020204020204" pitchFamily="34" charset="-122"/>
                <a:ea typeface="微软雅黑" panose="020B0503020204020204" pitchFamily="34" charset="-122"/>
                <a:cs typeface="+mn-lt"/>
              </a:rPr>
              <a:t>0 </a:t>
            </a:r>
            <a:r>
              <a:rPr lang="zh-CN" altLang="en-US" sz="2000" dirty="0">
                <a:latin typeface="微软雅黑" panose="020B0503020204020204" pitchFamily="34" charset="-122"/>
                <a:ea typeface="微软雅黑" panose="020B0503020204020204" pitchFamily="34" charset="-122"/>
                <a:cs typeface="+mn-lt"/>
              </a:rPr>
              <a:t>表示物理地址地址获取失败。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2" name="图片 1">
            <a:extLst>
              <a:ext uri="{FF2B5EF4-FFF2-40B4-BE49-F238E27FC236}">
                <a16:creationId xmlns:a16="http://schemas.microsoft.com/office/drawing/2014/main" id="{A19A8FBC-515B-DAB7-B822-D5E148082BAC}"/>
              </a:ext>
            </a:extLst>
          </p:cNvPr>
          <p:cNvPicPr>
            <a:picLocks noChangeAspect="1"/>
          </p:cNvPicPr>
          <p:nvPr/>
        </p:nvPicPr>
        <p:blipFill>
          <a:blip r:embed="rId3"/>
          <a:stretch>
            <a:fillRect/>
          </a:stretch>
        </p:blipFill>
        <p:spPr>
          <a:xfrm>
            <a:off x="8283944" y="3725334"/>
            <a:ext cx="2746238" cy="290406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9109-6606-B938-8373-ADC24A4A1A21}"/>
            </a:ext>
          </a:extLst>
        </p:cNvPr>
        <p:cNvGrpSpPr/>
        <p:nvPr/>
      </p:nvGrpSpPr>
      <p:grpSpPr>
        <a:xfrm>
          <a:off x="0" y="0"/>
          <a:ext cx="0" cy="0"/>
          <a:chOff x="0" y="0"/>
          <a:chExt cx="0" cy="0"/>
        </a:xfrm>
      </p:grpSpPr>
      <p:sp>
        <p:nvSpPr>
          <p:cNvPr id="6" name="内容占位符 5">
            <a:extLst>
              <a:ext uri="{FF2B5EF4-FFF2-40B4-BE49-F238E27FC236}">
                <a16:creationId xmlns:a16="http://schemas.microsoft.com/office/drawing/2014/main" id="{B5C34DAC-2AA5-694B-CE31-98350983B8C1}"/>
              </a:ext>
            </a:extLst>
          </p:cNvPr>
          <p:cNvSpPr>
            <a:spLocks noGrp="1"/>
          </p:cNvSpPr>
          <p:nvPr>
            <p:ph idx="1"/>
          </p:nvPr>
        </p:nvSpPr>
        <p:spPr>
          <a:xfrm>
            <a:off x="0" y="1145931"/>
            <a:ext cx="11904785" cy="4569070"/>
          </a:xfrm>
        </p:spPr>
        <p:txBody>
          <a:bodyPr/>
          <a:lstStyle/>
          <a:p>
            <a:pPr lvl="1" indent="-457200">
              <a:lnSpc>
                <a:spcPct val="150000"/>
              </a:lnSpc>
              <a:buFont typeface="Wingdings" panose="05000000000000000000" pitchFamily="2" charset="2"/>
              <a:buChar char="q"/>
              <a:defRPr/>
            </a:pPr>
            <a:r>
              <a:rPr kumimoji="0" lang="en-US" altLang="zh-CN" sz="20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Walkaddr</a:t>
            </a: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函数修改</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这里，由于 </a:t>
            </a:r>
            <a:r>
              <a:rPr lang="en-US" altLang="zh-CN" sz="2000" dirty="0">
                <a:latin typeface="微软雅黑" panose="020B0503020204020204" pitchFamily="34" charset="-122"/>
                <a:ea typeface="微软雅黑" panose="020B0503020204020204" pitchFamily="34" charset="-122"/>
                <a:cs typeface="+mn-lt"/>
              </a:rPr>
              <a:t>read/write </a:t>
            </a:r>
            <a:r>
              <a:rPr lang="zh-CN" altLang="en-US" sz="2000" dirty="0">
                <a:latin typeface="微软雅黑" panose="020B0503020204020204" pitchFamily="34" charset="-122"/>
                <a:ea typeface="微软雅黑" panose="020B0503020204020204" pitchFamily="34" charset="-122"/>
                <a:cs typeface="+mn-lt"/>
              </a:rPr>
              <a:t>等系统调用时，由于进程利用系统调用已经到了内核中，页表已经切换为内核页表，无法直接访问虚拟地址。因此，需要通过 </a:t>
            </a:r>
            <a:r>
              <a:rPr lang="en-US" altLang="zh-CN" sz="2000" dirty="0" err="1">
                <a:latin typeface="微软雅黑" panose="020B0503020204020204" pitchFamily="34" charset="-122"/>
                <a:ea typeface="微软雅黑" panose="020B0503020204020204" pitchFamily="34" charset="-122"/>
                <a:cs typeface="+mn-lt"/>
              </a:rPr>
              <a:t>walkaddr</a:t>
            </a:r>
            <a:r>
              <a:rPr lang="en-US" altLang="zh-CN" sz="2000" dirty="0">
                <a:latin typeface="微软雅黑" panose="020B0503020204020204" pitchFamily="34" charset="-122"/>
                <a:ea typeface="微软雅黑" panose="020B0503020204020204" pitchFamily="34" charset="-122"/>
                <a:cs typeface="+mn-lt"/>
              </a:rPr>
              <a:t> </a:t>
            </a:r>
            <a:r>
              <a:rPr lang="zh-CN" altLang="en-US" sz="2000" dirty="0">
                <a:latin typeface="微软雅黑" panose="020B0503020204020204" pitchFamily="34" charset="-122"/>
                <a:ea typeface="微软雅黑" panose="020B0503020204020204" pitchFamily="34" charset="-122"/>
                <a:cs typeface="+mn-lt"/>
              </a:rPr>
              <a:t>将虚拟地址翻译为物理地址。这里如果没找到对应的物理地址，就分配一个</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与</a:t>
            </a:r>
            <a:r>
              <a:rPr lang="en-US" altLang="zh-CN" sz="2000" dirty="0">
                <a:latin typeface="微软雅黑" panose="020B0503020204020204" pitchFamily="34" charset="-122"/>
                <a:ea typeface="微软雅黑" panose="020B0503020204020204" pitchFamily="34" charset="-122"/>
                <a:cs typeface="+mn-lt"/>
              </a:rPr>
              <a:t>page fault</a:t>
            </a:r>
            <a:r>
              <a:rPr lang="zh-CN" altLang="en-US" sz="2000" dirty="0">
                <a:latin typeface="微软雅黑" panose="020B0503020204020204" pitchFamily="34" charset="-122"/>
                <a:ea typeface="微软雅黑" panose="020B0503020204020204" pitchFamily="34" charset="-122"/>
                <a:cs typeface="+mn-lt"/>
              </a:rPr>
              <a:t>处理基本一致</a:t>
            </a:r>
            <a:endParaRPr lang="en-US" altLang="zh-CN" sz="2000" dirty="0">
              <a:latin typeface="微软雅黑" panose="020B0503020204020204" pitchFamily="34" charset="-122"/>
              <a:ea typeface="微软雅黑" panose="020B0503020204020204" pitchFamily="34" charset="-122"/>
              <a:cs typeface="+mn-lt"/>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a:t>
            </a:r>
            <a:r>
              <a:rPr lang="en-US" altLang="zh-CN" sz="2000" dirty="0">
                <a:latin typeface="微软雅黑" panose="020B0503020204020204" pitchFamily="34" charset="-122"/>
                <a:ea typeface="微软雅黑" panose="020B0503020204020204" pitchFamily="34" charset="-122"/>
                <a:cs typeface="+mn-lt"/>
              </a:rPr>
              <a:t>	</a:t>
            </a:r>
          </a:p>
        </p:txBody>
      </p:sp>
      <p:sp>
        <p:nvSpPr>
          <p:cNvPr id="3" name="标题 2">
            <a:extLst>
              <a:ext uri="{FF2B5EF4-FFF2-40B4-BE49-F238E27FC236}">
                <a16:creationId xmlns:a16="http://schemas.microsoft.com/office/drawing/2014/main" id="{3C2EE8EF-2AA1-C138-C911-1EF5BFF63E90}"/>
              </a:ext>
            </a:extLst>
          </p:cNvPr>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sp>
        <p:nvSpPr>
          <p:cNvPr id="5" name="文本框 4">
            <a:extLst>
              <a:ext uri="{FF2B5EF4-FFF2-40B4-BE49-F238E27FC236}">
                <a16:creationId xmlns:a16="http://schemas.microsoft.com/office/drawing/2014/main" id="{00399A4F-C60E-B9C9-8435-A855222C3234}"/>
              </a:ext>
            </a:extLst>
          </p:cNvPr>
          <p:cNvSpPr txBox="1"/>
          <p:nvPr/>
        </p:nvSpPr>
        <p:spPr>
          <a:xfrm>
            <a:off x="968375" y="3626346"/>
            <a:ext cx="9956800" cy="3231654"/>
          </a:xfrm>
          <a:prstGeom prst="rect">
            <a:avLst/>
          </a:prstGeom>
          <a:noFill/>
        </p:spPr>
        <p:txBody>
          <a:bodyPr wrap="square">
            <a:spAutoFit/>
          </a:bodyPr>
          <a:lstStyle/>
          <a:p>
            <a:pPr algn="l">
              <a:spcBef>
                <a:spcPts val="600"/>
              </a:spcBef>
              <a:spcAft>
                <a:spcPts val="600"/>
              </a:spcAft>
            </a:pPr>
            <a:r>
              <a:rPr lang="zh-CN" altLang="en-US" b="0" i="0" dirty="0">
                <a:solidFill>
                  <a:srgbClr val="333333"/>
                </a:solidFill>
                <a:effectLst/>
                <a:latin typeface="Helvetica Neue"/>
              </a:rPr>
              <a:t>提示：</a:t>
            </a:r>
            <a:endParaRPr lang="en-US" altLang="zh-CN" b="0" i="0" dirty="0">
              <a:solidFill>
                <a:srgbClr val="333333"/>
              </a:solidFill>
              <a:effectLst/>
              <a:latin typeface="Helvetica Neue"/>
            </a:endParaRP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参数为负的情况。</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如果某个进程在高于</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分配的任何虚拟内存地址上出现页错误，则终止该进程。</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在</a:t>
            </a:r>
            <a:r>
              <a:rPr lang="en-US" altLang="zh-CN" b="0" i="0" dirty="0">
                <a:solidFill>
                  <a:srgbClr val="333333"/>
                </a:solidFill>
                <a:effectLst/>
                <a:latin typeface="Consolas" panose="020B0609020204030204" pitchFamily="49" charset="0"/>
              </a:rPr>
              <a:t>fork()</a:t>
            </a:r>
            <a:r>
              <a:rPr lang="zh-CN" altLang="en-US" b="0" i="0" dirty="0">
                <a:solidFill>
                  <a:srgbClr val="333333"/>
                </a:solidFill>
                <a:effectLst/>
                <a:latin typeface="Helvetica Neue"/>
              </a:rPr>
              <a:t>中正确处理父到子内存拷贝。</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处理这种情形：进程从</a:t>
            </a:r>
            <a:r>
              <a:rPr lang="en-US" altLang="zh-CN" b="0" i="0" dirty="0" err="1">
                <a:solidFill>
                  <a:srgbClr val="333333"/>
                </a:solidFill>
                <a:effectLst/>
                <a:latin typeface="Consolas" panose="020B0609020204030204" pitchFamily="49" charset="0"/>
              </a:rPr>
              <a:t>sbrk</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向系统调用（如</a:t>
            </a:r>
            <a:r>
              <a:rPr lang="en-US" altLang="zh-CN" b="0" i="0" dirty="0">
                <a:solidFill>
                  <a:srgbClr val="333333"/>
                </a:solidFill>
                <a:effectLst/>
                <a:latin typeface="Consolas" panose="020B0609020204030204" pitchFamily="49" charset="0"/>
              </a:rPr>
              <a:t>read</a:t>
            </a:r>
            <a:r>
              <a:rPr lang="zh-CN" altLang="en-US" b="0" i="0" dirty="0">
                <a:solidFill>
                  <a:srgbClr val="333333"/>
                </a:solidFill>
                <a:effectLst/>
                <a:latin typeface="Helvetica Neue"/>
              </a:rPr>
              <a:t>或</a:t>
            </a:r>
            <a:r>
              <a:rPr lang="en-US" altLang="zh-CN" b="0" i="0" dirty="0">
                <a:solidFill>
                  <a:srgbClr val="333333"/>
                </a:solidFill>
                <a:effectLst/>
                <a:latin typeface="Consolas" panose="020B0609020204030204" pitchFamily="49" charset="0"/>
              </a:rPr>
              <a:t>write</a:t>
            </a:r>
            <a:r>
              <a:rPr lang="zh-CN" altLang="en-US" b="0" i="0" dirty="0">
                <a:solidFill>
                  <a:srgbClr val="333333"/>
                </a:solidFill>
                <a:effectLst/>
                <a:latin typeface="Helvetica Neue"/>
              </a:rPr>
              <a:t>）传递有效地址，但尚未分配该地址的内存。</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正确处理内存不足：如果在页面错误处理程序中执行</a:t>
            </a:r>
            <a:r>
              <a:rPr lang="en-US" altLang="zh-CN" b="0" i="0" dirty="0" err="1">
                <a:solidFill>
                  <a:srgbClr val="333333"/>
                </a:solidFill>
                <a:effectLst/>
                <a:latin typeface="Consolas" panose="020B0609020204030204" pitchFamily="49" charset="0"/>
              </a:rPr>
              <a:t>kalloc</a:t>
            </a:r>
            <a:r>
              <a:rPr lang="en-US" altLang="zh-CN" b="0" i="0" dirty="0">
                <a:solidFill>
                  <a:srgbClr val="333333"/>
                </a:solidFill>
                <a:effectLst/>
                <a:latin typeface="Consolas" panose="020B0609020204030204" pitchFamily="49" charset="0"/>
              </a:rPr>
              <a:t>()</a:t>
            </a:r>
            <a:r>
              <a:rPr lang="zh-CN" altLang="en-US" b="0" i="0" dirty="0">
                <a:solidFill>
                  <a:srgbClr val="333333"/>
                </a:solidFill>
                <a:effectLst/>
                <a:latin typeface="Helvetica Neue"/>
              </a:rPr>
              <a:t>失败，则终止当前进程。</a:t>
            </a:r>
          </a:p>
          <a:p>
            <a:pPr algn="l">
              <a:spcBef>
                <a:spcPts val="600"/>
              </a:spcBef>
              <a:spcAft>
                <a:spcPts val="600"/>
              </a:spcAft>
              <a:buFont typeface="Arial" panose="020B0604020202020204" pitchFamily="34" charset="0"/>
              <a:buChar char="•"/>
            </a:pPr>
            <a:r>
              <a:rPr lang="zh-CN" altLang="en-US" b="0" i="0" dirty="0">
                <a:solidFill>
                  <a:srgbClr val="333333"/>
                </a:solidFill>
                <a:effectLst/>
                <a:latin typeface="Helvetica Neue"/>
              </a:rPr>
              <a:t>处理用户栈下面的无效页面上发生的错误</a:t>
            </a:r>
          </a:p>
        </p:txBody>
      </p:sp>
    </p:spTree>
    <p:extLst>
      <p:ext uri="{BB962C8B-B14F-4D97-AF65-F5344CB8AC3E}">
        <p14:creationId xmlns:p14="http://schemas.microsoft.com/office/powerpoint/2010/main" val="15924788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61546" y="987425"/>
            <a:ext cx="11904785" cy="5870575"/>
          </a:xfrm>
        </p:spPr>
        <p:txBody>
          <a:bodyPr/>
          <a:lstStyle/>
          <a:p>
            <a:pPr lvl="1" indent="-457200">
              <a:lnSpc>
                <a:spcPct val="150000"/>
              </a:lnSpc>
              <a:buFont typeface="Wingdings" panose="05000000000000000000" pitchFamily="2" charset="2"/>
              <a:buChar char="q"/>
              <a:defRPr/>
            </a:pPr>
            <a:r>
              <a:rPr kumimoji="0"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rPr>
              <a:t>实验测试</a:t>
            </a:r>
            <a:endParaRPr kumimoji="0"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lt"/>
              <a:sym typeface="Wingdings" panose="05000000000000000000" pitchFamily="2" charset="2"/>
            </a:endParaRPr>
          </a:p>
          <a:p>
            <a:pPr marL="457200" lvl="1" indent="0">
              <a:lnSpc>
                <a:spcPct val="150000"/>
              </a:lnSpc>
              <a:buNone/>
              <a:defRPr/>
            </a:pPr>
            <a:r>
              <a:rPr lang="zh-CN" altLang="en-US" sz="2000" dirty="0">
                <a:latin typeface="微软雅黑" panose="020B0503020204020204" pitchFamily="34" charset="-122"/>
                <a:ea typeface="微软雅黑" panose="020B0503020204020204" pitchFamily="34" charset="-122"/>
                <a:cs typeface="+mn-lt"/>
              </a:rPr>
              <a:t>      </a:t>
            </a:r>
            <a:endParaRPr lang="en-US" altLang="zh-CN" sz="2000" dirty="0">
              <a:latin typeface="微软雅黑" panose="020B0503020204020204" pitchFamily="34" charset="-122"/>
              <a:ea typeface="微软雅黑" panose="020B0503020204020204" pitchFamily="34" charset="-122"/>
              <a:cs typeface="+mn-lt"/>
            </a:endParaRPr>
          </a:p>
        </p:txBody>
      </p:sp>
      <p:sp>
        <p:nvSpPr>
          <p:cNvPr id="3" name="标题 2"/>
          <p:cNvSpPr>
            <a:spLocks noGrp="1"/>
          </p:cNvSpPr>
          <p:nvPr>
            <p:ph type="title"/>
          </p:nvPr>
        </p:nvSpPr>
        <p:spPr>
          <a:xfrm>
            <a:off x="968375" y="149225"/>
            <a:ext cx="10614025" cy="688975"/>
          </a:xfrm>
        </p:spPr>
        <p:txBody>
          <a:bodyPr anchor="ctr"/>
          <a:lstStyle/>
          <a:p>
            <a:r>
              <a:rPr lang="zh-CN" altLang="en-US" dirty="0">
                <a:solidFill>
                  <a:srgbClr val="002060"/>
                </a:solidFill>
                <a:sym typeface="+mn-ea"/>
              </a:rPr>
              <a:t>实验内容</a:t>
            </a:r>
            <a:r>
              <a:rPr lang="en-US" altLang="zh-CN" dirty="0">
                <a:solidFill>
                  <a:srgbClr val="002060"/>
                </a:solidFill>
                <a:sym typeface="+mn-ea"/>
              </a:rPr>
              <a:t>—</a:t>
            </a:r>
            <a:r>
              <a:rPr lang="zh-CN" altLang="en-US" dirty="0">
                <a:solidFill>
                  <a:srgbClr val="002060"/>
                </a:solidFill>
                <a:sym typeface="+mn-ea"/>
              </a:rPr>
              <a:t>任务</a:t>
            </a:r>
            <a:r>
              <a:rPr lang="en-US" altLang="zh-CN" dirty="0">
                <a:solidFill>
                  <a:srgbClr val="002060"/>
                </a:solidFill>
                <a:sym typeface="+mn-ea"/>
              </a:rPr>
              <a:t>3</a:t>
            </a:r>
            <a:r>
              <a:rPr lang="zh-CN" altLang="en-US" dirty="0">
                <a:solidFill>
                  <a:srgbClr val="002060"/>
                </a:solidFill>
                <a:sym typeface="+mn-ea"/>
              </a:rPr>
              <a:t>：通过所有懒惰测试和用户测试</a:t>
            </a:r>
          </a:p>
        </p:txBody>
      </p:sp>
      <p:pic>
        <p:nvPicPr>
          <p:cNvPr id="4" name="图片 3"/>
          <p:cNvPicPr>
            <a:picLocks noChangeAspect="1"/>
          </p:cNvPicPr>
          <p:nvPr/>
        </p:nvPicPr>
        <p:blipFill>
          <a:blip r:embed="rId3"/>
          <a:stretch>
            <a:fillRect/>
          </a:stretch>
        </p:blipFill>
        <p:spPr>
          <a:xfrm>
            <a:off x="772911" y="1545333"/>
            <a:ext cx="5241027" cy="527884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0" y="1840062"/>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Thank</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 </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You</a:t>
            </a:r>
            <a:endPar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endParaRPr>
          </a:p>
        </p:txBody>
      </p:sp>
      <p:sp>
        <p:nvSpPr>
          <p:cNvPr id="6147" name="标题 2"/>
          <p:cNvSpPr>
            <a:spLocks noGrp="1" noChangeArrowheads="1"/>
          </p:cNvSpPr>
          <p:nvPr>
            <p:custDataLst>
              <p:tags r:id="rId1"/>
            </p:custDataLst>
          </p:nvPr>
        </p:nvSpPr>
        <p:spPr>
          <a:xfrm>
            <a:off x="807085" y="0"/>
            <a:ext cx="3253105" cy="933450"/>
          </a:xfrm>
          <a:prstGeom prst="rect">
            <a:avLst/>
          </a:prstGeom>
          <a:noFill/>
          <a:ln>
            <a:noFill/>
          </a:ln>
        </p:spPr>
        <p:txBody>
          <a:bodyPr vert="horz" wrap="square" lIns="91440" tIns="45720" rIns="91440" bIns="45720" numCol="1" anchor="ctr" anchorCtr="1" compatLnSpc="1"/>
          <a:lst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PP_MARK_KEY" val="7894b92a-c960-47a7-99ec-6e4dfd8dd848"/>
  <p:tag name="COMMONDATA" val="eyJoZGlkIjoiYTE1MjI3M2M1ODdjZTYxNTFiY2ExMmE3MTk0YzgwN2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4163</TotalTime>
  <Words>4499</Words>
  <Application>Microsoft Office PowerPoint</Application>
  <PresentationFormat>宽屏</PresentationFormat>
  <Paragraphs>293</Paragraphs>
  <Slides>45</Slides>
  <Notes>38</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45</vt:i4>
      </vt:variant>
    </vt:vector>
  </HeadingPairs>
  <TitlesOfParts>
    <vt:vector size="59" baseType="lpstr">
      <vt:lpstr>-apple-system</vt:lpstr>
      <vt:lpstr>Helvetica Neue</vt:lpstr>
      <vt:lpstr>inherit</vt:lpstr>
      <vt:lpstr>ui-monospace</vt:lpstr>
      <vt:lpstr>等线</vt:lpstr>
      <vt:lpstr>宋体</vt:lpstr>
      <vt:lpstr>微软雅黑</vt:lpstr>
      <vt:lpstr>Arial</vt:lpstr>
      <vt:lpstr>Calibri</vt:lpstr>
      <vt:lpstr>Consolas</vt:lpstr>
      <vt:lpstr>Times New Roman</vt:lpstr>
      <vt:lpstr>Wingdings</vt:lpstr>
      <vt:lpstr>主题1</vt:lpstr>
      <vt:lpstr>1_主题1</vt:lpstr>
      <vt:lpstr>操作系统实验</vt:lpstr>
      <vt:lpstr>实验一：Traps（陷阱）</vt:lpstr>
      <vt:lpstr>陷阱的基本概念</vt:lpstr>
      <vt:lpstr>实验要求</vt:lpstr>
      <vt:lpstr>RISC-V 寄存器</vt:lpstr>
      <vt:lpstr>RISC-V 函数栈结构</vt:lpstr>
      <vt:lpstr>RISC-V 函数栈结构</vt:lpstr>
      <vt:lpstr>实验内容—任务1：RISC-V assembly</vt:lpstr>
      <vt:lpstr>实验内容—任务1：RISC-V assembly</vt:lpstr>
      <vt:lpstr>实验内容—任务1：RISC-V assembly</vt:lpstr>
      <vt:lpstr>实验内容—任务1：RISC-V assembly</vt:lpstr>
      <vt:lpstr>实验内容—任务2：Backtrace</vt:lpstr>
      <vt:lpstr>实验内容—任务2：Backtrace</vt:lpstr>
      <vt:lpstr>实验内容—任务2：Backtrace</vt:lpstr>
      <vt:lpstr>实验内容—任务2：Backtrace</vt:lpstr>
      <vt:lpstr>实验内容—任务2：Backtrace</vt:lpstr>
      <vt:lpstr>实验内容—任务2：Backtrace</vt:lpstr>
      <vt:lpstr>实验内容—任务2：Backtrace</vt:lpstr>
      <vt:lpstr>实验内容—任务3：Alarm</vt:lpstr>
      <vt:lpstr>实验内容—任务3：Alarm</vt:lpstr>
      <vt:lpstr>实验内容—任务3： Alarm</vt:lpstr>
      <vt:lpstr>实验内容—任务3： Alarm</vt:lpstr>
      <vt:lpstr>实验内容—任务3： Alarm</vt:lpstr>
      <vt:lpstr>实验内容—任务3： Alarm</vt:lpstr>
      <vt:lpstr>实验内容—任务3： Alarm</vt:lpstr>
      <vt:lpstr>实验内容—任务3： Alarm</vt:lpstr>
      <vt:lpstr>实验内容</vt:lpstr>
      <vt:lpstr>实验内容</vt:lpstr>
      <vt:lpstr>实验内容</vt:lpstr>
      <vt:lpstr>实验二：Lazy Page Allocation（懒分配）</vt:lpstr>
      <vt:lpstr>Lazy Page Allocation(懒分配)</vt:lpstr>
      <vt:lpstr>Lazy Page Allocation(懒分配)</vt:lpstr>
      <vt:lpstr>Lazy Page Allocation(懒分配)</vt:lpstr>
      <vt:lpstr>实验内容—任务1：取消系统调用中原有的页面分配功能</vt:lpstr>
      <vt:lpstr>实验内容—任务1：取消系统调用中原有的页面分配功能</vt:lpstr>
      <vt:lpstr>实验内容—任务1：取消系统调用中原有的页面分配功能</vt:lpstr>
      <vt:lpstr>实验内容—任务2：实现懒分配功能（以 echo hi 命令测试） </vt:lpstr>
      <vt:lpstr>实验内容—任务2：实现懒分配功能（以 echo hi 命令测试） </vt:lpstr>
      <vt:lpstr>实验内容—任务2：实现懒分配功能（以 echo hi 命令测试） </vt:lpstr>
      <vt:lpstr>实验内容—任务3：通过所有懒惰测试和用户测试</vt:lpstr>
      <vt:lpstr>实验内容—任务3：通过所有懒惰测试和用户测试</vt:lpstr>
      <vt:lpstr>实验内容—任务3：通过所有懒惰测试和用户测试</vt:lpstr>
      <vt:lpstr>实验内容—任务3：通过所有懒惰测试和用户测试</vt:lpstr>
      <vt:lpstr>实验内容—任务3：通过所有懒惰测试和用户测试</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LWT</dc:creator>
  <cp:lastModifiedBy>851627648@qq.com</cp:lastModifiedBy>
  <cp:revision>1867</cp:revision>
  <dcterms:created xsi:type="dcterms:W3CDTF">2024-03-22T09:23:00Z</dcterms:created>
  <dcterms:modified xsi:type="dcterms:W3CDTF">2025-11-17T14:59:02Z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59FEE3F1CBC941D8828144927225C27B_13</vt:lpwstr>
  </property>
  <property fmtid="{D5CDD505-2E9C-101B-9397-08002B2CF9AE}" pid="3" name="KSOProductBuildVer">
    <vt:lpwstr>2052-12.1.0.18276</vt:lpwstr>
  </property>
</Properties>
</file>